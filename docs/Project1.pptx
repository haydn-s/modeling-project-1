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1" r:id="rId1"/>
  </p:sldMasterIdLst>
  <p:notesMasterIdLst>
    <p:notesMasterId r:id="rId5"/>
  </p:notesMasterIdLst>
  <p:handoutMasterIdLst>
    <p:handoutMasterId r:id="rId6"/>
  </p:handoutMasterIdLst>
  <p:sldIdLst>
    <p:sldId id="271" r:id="rId2"/>
    <p:sldId id="515" r:id="rId3"/>
    <p:sldId id="516" r:id="rId4"/>
  </p:sldIdLst>
  <p:sldSz cx="9144000" cy="5143500" type="screen16x9"/>
  <p:notesSz cx="7010400" cy="9296400"/>
  <p:embeddedFontLst>
    <p:embeddedFont>
      <p:font typeface="Aptos Narrow" panose="020B0004020202020204" pitchFamily="34" charset="0"/>
      <p:regular r:id="rId7"/>
      <p:bold r:id="rId8"/>
      <p:italic r:id="rId9"/>
      <p:boldItalic r:id="rId10"/>
    </p:embeddedFont>
    <p:embeddedFont>
      <p:font typeface="Open Sans" panose="020B0606030504020204" pitchFamily="34" charset="0"/>
      <p:regular r:id="rId11"/>
      <p:bold r:id="rId11"/>
      <p:italic r:id="rId11"/>
      <p:boldItalic r:id="rId11"/>
    </p:embeddedFont>
  </p:embeddedFont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 Reifschneider" initials="JR" lastIdx="1" clrIdx="0">
    <p:extLst>
      <p:ext uri="{19B8F6BF-5375-455C-9EA6-DF929625EA0E}">
        <p15:presenceInfo xmlns:p15="http://schemas.microsoft.com/office/powerpoint/2012/main" userId="S::jjr10@duke.edu::adf61fbf-732f-4512-928f-7bd2737fadf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clrMode="bw" frameSlides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0D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84"/>
    <p:restoredTop sz="94681"/>
  </p:normalViewPr>
  <p:slideViewPr>
    <p:cSldViewPr snapToGrid="0" snapToObjects="1">
      <p:cViewPr varScale="1">
        <p:scale>
          <a:sx n="171" d="100"/>
          <a:sy n="171" d="100"/>
        </p:scale>
        <p:origin x="288" y="16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font" Target="NULL"/><Relationship Id="rId5" Type="http://schemas.openxmlformats.org/officeDocument/2006/relationships/notesMaster" Target="notesMasters/notesMaster1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99A984-4A80-074F-88D1-7DA5B8EF27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12F1B4-ED44-504A-B219-D6CB7358A0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F75CFD1-423F-6341-B9E6-7F0902AB8C58}" type="datetime1">
              <a:rPr lang="en-US" altLang="en-US"/>
              <a:pPr>
                <a:defRPr/>
              </a:pPr>
              <a:t>9/15/26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B7C091-A977-3646-82B8-4087D2EFD19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EE009-30F0-F04E-AB1E-3DEE7D93ABC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D487C64-BAF2-3148-A83E-1853D83860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C5D1F0E-1220-9F46-BD67-AE740D2FEE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A8C05A-3D33-054F-A2E2-9865B3B386A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91D22EF-D2F6-C042-8C78-98305ECA2FBD}" type="datetime1">
              <a:rPr lang="en-US" altLang="en-US"/>
              <a:pPr>
                <a:defRPr/>
              </a:pPr>
              <a:t>9/15/26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CA60385-C3A2-E743-8F84-CF588485B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FC3C097-4388-5747-AB58-7F79793A41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E4066E-C0CE-C047-88E3-615BBBFE715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C7E83-6AF9-0A44-802E-291EF3E6D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17813C2-0D88-2B44-8D66-87A07275F6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Ae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E14C1C88-EB41-0F4B-AAA8-143084A38A3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2">
            <a:extLst>
              <a:ext uri="{FF2B5EF4-FFF2-40B4-BE49-F238E27FC236}">
                <a16:creationId xmlns:a16="http://schemas.microsoft.com/office/drawing/2014/main" id="{054D886C-A6B0-1D40-8E9F-DDF4C4693F8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75638" y="161925"/>
            <a:ext cx="654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3988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FCIE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9BC785DC-496B-1E42-B5DC-69821FFDD74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2">
            <a:extLst>
              <a:ext uri="{FF2B5EF4-FFF2-40B4-BE49-F238E27FC236}">
                <a16:creationId xmlns:a16="http://schemas.microsoft.com/office/drawing/2014/main" id="{3B8D600D-83A1-BE49-ADB0-3C1521F4A6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75638" y="161925"/>
            <a:ext cx="654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848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Sp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833BBE9F-A41D-7241-9E5A-ED29170B91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2">
            <a:extLst>
              <a:ext uri="{FF2B5EF4-FFF2-40B4-BE49-F238E27FC236}">
                <a16:creationId xmlns:a16="http://schemas.microsoft.com/office/drawing/2014/main" id="{ADC9F641-F081-5B4B-83CC-6ADAE2B98E4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75638" y="161925"/>
            <a:ext cx="654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2826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DBC914-62BC-3649-BEB4-BD91CBF055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7D1687-5D3A-B547-974B-AD28DF7757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181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8728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EBD51B-ACAB-7042-8D52-94BF5946AC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EC1DF3-8571-FF45-AF26-608241B756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600" b="1" cap="all">
                <a:solidFill>
                  <a:srgbClr val="00558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70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44513F3E-18D7-354A-BA3C-C51343F3F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E94096B7-B609-AC41-9C13-3955C73145C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19722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19722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5992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4D562D98-0CF7-F04F-BAA4-FC79A47000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54FB7BF6-55C6-A644-972F-BF0E1C3192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246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944688"/>
            <a:ext cx="4040188" cy="24368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391246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944688"/>
            <a:ext cx="4041775" cy="24368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216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450DDF2E-CCB6-0547-A5BF-367109A385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3A99C66E-2C0B-5D47-8CAE-FE9A7CE88E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3418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-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00FCB922-04CA-B649-8B8C-F47E33B9D6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6E25ABF1-BE5E-B742-8B15-EAFE315704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1305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EEB7A28A-68F2-0348-9FB9-A55D579804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077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0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BBDB4B-434E-5841-8C55-1F2B080437A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27963" y="4133850"/>
            <a:ext cx="88900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60430D-3485-7F49-8822-7405437E5C53}"/>
              </a:ext>
            </a:extLst>
          </p:cNvPr>
          <p:cNvCxnSpPr/>
          <p:nvPr userDrawn="1"/>
        </p:nvCxnSpPr>
        <p:spPr>
          <a:xfrm>
            <a:off x="0" y="309563"/>
            <a:ext cx="9144000" cy="0"/>
          </a:xfrm>
          <a:prstGeom prst="line">
            <a:avLst/>
          </a:prstGeom>
          <a:ln w="38100" cmpd="sng">
            <a:solidFill>
              <a:srgbClr val="E899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34FF0BE-0153-884F-8F35-C766CB9B5152}"/>
              </a:ext>
            </a:extLst>
          </p:cNvPr>
          <p:cNvSpPr/>
          <p:nvPr/>
        </p:nvSpPr>
        <p:spPr>
          <a:xfrm>
            <a:off x="7600950" y="298450"/>
            <a:ext cx="1543050" cy="517525"/>
          </a:xfrm>
          <a:prstGeom prst="rect">
            <a:avLst/>
          </a:prstGeom>
          <a:solidFill>
            <a:srgbClr val="E89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C831686F-FC2A-024E-A406-E0A7481F75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27950" y="403225"/>
            <a:ext cx="9747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2"/>
          <p:cNvSpPr>
            <a:spLocks noGrp="1"/>
          </p:cNvSpPr>
          <p:nvPr>
            <p:ph type="title"/>
          </p:nvPr>
        </p:nvSpPr>
        <p:spPr>
          <a:xfrm>
            <a:off x="407722" y="1983028"/>
            <a:ext cx="8328557" cy="1173525"/>
          </a:xfrm>
        </p:spPr>
        <p:txBody>
          <a:bodyPr/>
          <a:lstStyle>
            <a:lvl1pPr algn="ctr">
              <a:defRPr sz="3600" b="1" spc="3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14"/>
          <p:cNvSpPr>
            <a:spLocks noGrp="1"/>
          </p:cNvSpPr>
          <p:nvPr>
            <p:ph sz="quarter" idx="10"/>
          </p:nvPr>
        </p:nvSpPr>
        <p:spPr>
          <a:xfrm>
            <a:off x="427397" y="3631634"/>
            <a:ext cx="7174159" cy="1215084"/>
          </a:xfrm>
        </p:spPr>
        <p:txBody>
          <a:bodyPr anchor="b"/>
          <a:lstStyle>
            <a:lvl1pPr marL="0" indent="0" algn="l">
              <a:buNone/>
              <a:defRPr sz="2100" baseline="0">
                <a:solidFill>
                  <a:schemeClr val="bg1"/>
                </a:solidFill>
              </a:defRPr>
            </a:lvl1pPr>
            <a:lvl2pPr marL="457178" indent="0">
              <a:buNone/>
              <a:defRPr>
                <a:solidFill>
                  <a:schemeClr val="bg1"/>
                </a:solidFill>
              </a:defRPr>
            </a:lvl2pPr>
            <a:lvl3pPr marL="914355" indent="0">
              <a:buNone/>
              <a:defRPr>
                <a:solidFill>
                  <a:schemeClr val="bg1"/>
                </a:solidFill>
              </a:defRPr>
            </a:lvl3pPr>
            <a:lvl4pPr marL="1371532" indent="0">
              <a:buNone/>
              <a:defRPr>
                <a:solidFill>
                  <a:schemeClr val="bg1"/>
                </a:solidFill>
              </a:defRPr>
            </a:lvl4pPr>
            <a:lvl5pPr marL="1828709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5487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822E64FD-81FF-D943-AFF5-681142E5B9D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387350"/>
            <a:ext cx="82296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FE861207-7373-4344-BED4-311B44BEAA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  <p:sldLayoutId id="2147483930" r:id="rId11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4000" b="1" kern="1200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7F7F7F"/>
          </a:solidFill>
          <a:latin typeface="Arial" charset="0"/>
          <a:ea typeface="ＭＳ Ｐゴシック" pitchFamily="1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7F7F7F"/>
          </a:solidFill>
          <a:latin typeface="Arial" charset="0"/>
          <a:ea typeface="ＭＳ Ｐゴシック" pitchFamily="1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7F7F7F"/>
          </a:solidFill>
          <a:latin typeface="Arial" charset="0"/>
          <a:ea typeface="ＭＳ Ｐゴシック" pitchFamily="1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7F7F7F"/>
          </a:solidFill>
          <a:latin typeface="Arial" charset="0"/>
          <a:ea typeface="ＭＳ Ｐゴシック" pitchFamily="1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22F135E-EB1B-5F38-E501-5234B3801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1</a:t>
            </a:r>
          </a:p>
        </p:txBody>
      </p:sp>
    </p:spTree>
    <p:extLst>
      <p:ext uri="{BB962C8B-B14F-4D97-AF65-F5344CB8AC3E}">
        <p14:creationId xmlns:p14="http://schemas.microsoft.com/office/powerpoint/2010/main" val="3255969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7986A-72D1-A359-EB22-D8DAD7307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1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56D31-C514-379D-7308-C5AA1F358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Predict the hourly temperature measured at RDU airport for the period 12am September 17 – 11pm September 30</a:t>
            </a:r>
          </a:p>
          <a:p>
            <a:pPr marL="0" indent="0">
              <a:buNone/>
            </a:pPr>
            <a:endParaRPr lang="en-US" sz="800" dirty="0"/>
          </a:p>
          <a:p>
            <a:r>
              <a:rPr lang="en-US" sz="1800" dirty="0"/>
              <a:t>Rules</a:t>
            </a:r>
          </a:p>
          <a:p>
            <a:pPr lvl="1"/>
            <a:r>
              <a:rPr lang="en-US" sz="1400" dirty="0"/>
              <a:t>Any data (from </a:t>
            </a:r>
            <a:r>
              <a:rPr lang="en-US" sz="1400" b="1" dirty="0"/>
              <a:t>prior to Sep 17 12am</a:t>
            </a:r>
            <a:r>
              <a:rPr lang="en-US" sz="1400" dirty="0"/>
              <a:t>)</a:t>
            </a:r>
          </a:p>
          <a:p>
            <a:pPr lvl="1"/>
            <a:r>
              <a:rPr lang="en-US" sz="1400" dirty="0"/>
              <a:t>Any inputs/features</a:t>
            </a:r>
          </a:p>
          <a:p>
            <a:pPr lvl="1"/>
            <a:r>
              <a:rPr lang="en-US" sz="1400" dirty="0"/>
              <a:t>Any model(s)</a:t>
            </a:r>
          </a:p>
          <a:p>
            <a:pPr lvl="1"/>
            <a:r>
              <a:rPr lang="en-US" sz="1400" dirty="0"/>
              <a:t>MUST include 1 linear regression model + 1 other model</a:t>
            </a:r>
          </a:p>
          <a:p>
            <a:pPr lvl="1"/>
            <a:r>
              <a:rPr lang="en-US" sz="1400" b="1" dirty="0"/>
              <a:t>AI allowed for coding. Writing and slides must be your own</a:t>
            </a:r>
          </a:p>
          <a:p>
            <a:pPr marL="457200" lvl="1" indent="0">
              <a:buNone/>
            </a:pPr>
            <a:endParaRPr lang="en-US" sz="800" dirty="0"/>
          </a:p>
          <a:p>
            <a:r>
              <a:rPr lang="en-US" sz="1800" dirty="0"/>
              <a:t>Deliverables (due Oct 7)</a:t>
            </a:r>
          </a:p>
          <a:p>
            <a:pPr lvl="1"/>
            <a:r>
              <a:rPr lang="en-US" sz="1400" dirty="0"/>
              <a:t>Presentation: Inputs, data pipeline, features, models, eval approach, performance</a:t>
            </a:r>
          </a:p>
          <a:p>
            <a:pPr lvl="1"/>
            <a:r>
              <a:rPr lang="en-US" sz="1400" dirty="0"/>
              <a:t>Code repo</a:t>
            </a:r>
          </a:p>
          <a:p>
            <a:pPr lvl="1"/>
            <a:r>
              <a:rPr lang="en-US" sz="1400" dirty="0"/>
              <a:t>Writeup (2-4 pages): your approach to the problem, how you applied what we learned in class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62307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62364-3CDB-69B1-EAD4-84DBE7D73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7350"/>
            <a:ext cx="8229600" cy="676275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Teams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F825E5E-36EE-8F0D-CC89-FF54B5E2A6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869685"/>
              </p:ext>
            </p:extLst>
          </p:nvPr>
        </p:nvGraphicFramePr>
        <p:xfrm>
          <a:off x="785542" y="1635861"/>
          <a:ext cx="7421756" cy="203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7654">
                  <a:extLst>
                    <a:ext uri="{9D8B030D-6E8A-4147-A177-3AD203B41FA5}">
                      <a16:colId xmlns:a16="http://schemas.microsoft.com/office/drawing/2014/main" val="3023878953"/>
                    </a:ext>
                  </a:extLst>
                </a:gridCol>
                <a:gridCol w="1839231">
                  <a:extLst>
                    <a:ext uri="{9D8B030D-6E8A-4147-A177-3AD203B41FA5}">
                      <a16:colId xmlns:a16="http://schemas.microsoft.com/office/drawing/2014/main" val="3470345303"/>
                    </a:ext>
                  </a:extLst>
                </a:gridCol>
                <a:gridCol w="1610913">
                  <a:extLst>
                    <a:ext uri="{9D8B030D-6E8A-4147-A177-3AD203B41FA5}">
                      <a16:colId xmlns:a16="http://schemas.microsoft.com/office/drawing/2014/main" val="2063085154"/>
                    </a:ext>
                  </a:extLst>
                </a:gridCol>
                <a:gridCol w="1740927">
                  <a:extLst>
                    <a:ext uri="{9D8B030D-6E8A-4147-A177-3AD203B41FA5}">
                      <a16:colId xmlns:a16="http://schemas.microsoft.com/office/drawing/2014/main" val="1626556404"/>
                    </a:ext>
                  </a:extLst>
                </a:gridCol>
                <a:gridCol w="1403031">
                  <a:extLst>
                    <a:ext uri="{9D8B030D-6E8A-4147-A177-3AD203B41FA5}">
                      <a16:colId xmlns:a16="http://schemas.microsoft.com/office/drawing/2014/main" val="28967882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Team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Member 1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Member 2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Member 3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Member 4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7255298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Chowdhury, Debshree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Jindal, Snehal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Romanczuk, Kuba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Chen, Xinlei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7584707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Daudov, Vagiz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Kosuri, Mihir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Sayed, Arshaan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1111495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Deng, George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Li, Cheney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Stucker, Haydn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9994585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Donbekci, Burak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Lin, Lexie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Teshome, Samuel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817739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Gomez Soteres, Alberto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Liu, Yan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Wang, Nicholas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7929113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Govil, Rahul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Lu, Yongrong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Wang, Xianyu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7921001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Grewal, Sabrina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McCormack, Hadley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Xu, Canyang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701569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Gupta, Jothi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Nordberg, Konur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Yaari, Daniel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8601944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Hu, Qingyi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Robbins, Colby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Zhang, Shenwei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44761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7360866"/>
      </p:ext>
    </p:extLst>
  </p:cSld>
  <p:clrMapOvr>
    <a:masterClrMapping/>
  </p:clrMapOvr>
</p:sld>
</file>

<file path=ppt/theme/theme1.xml><?xml version="1.0" encoding="utf-8"?>
<a:theme xmlns:a="http://schemas.openxmlformats.org/drawingml/2006/main" name="pratt-template-aerial-w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att-template-photo-2019  -  Compatibility Mode" id="{D42B5714-30A2-CD4D-AF08-507A411B0D58}" vid="{297FEE61-2E36-AA47-ADC1-104B8049EC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27829</TotalTime>
  <Words>211</Words>
  <Application>Microsoft Macintosh PowerPoint</Application>
  <PresentationFormat>On-screen Show (16:9)</PresentationFormat>
  <Paragraphs>58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Open Sans</vt:lpstr>
      <vt:lpstr>Calibri</vt:lpstr>
      <vt:lpstr>Aptos Narrow</vt:lpstr>
      <vt:lpstr>pratt-template-aerial-wide</vt:lpstr>
      <vt:lpstr>Project 1</vt:lpstr>
      <vt:lpstr>Project 1 objective</vt:lpstr>
      <vt:lpstr>Teams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Sourcing Data for Analytics: Introduction  Week 1    </dc:title>
  <dc:creator>Jon Reifschneider</dc:creator>
  <cp:lastModifiedBy>Jon Reifschneider</cp:lastModifiedBy>
  <cp:revision>233</cp:revision>
  <dcterms:created xsi:type="dcterms:W3CDTF">2020-08-17T17:32:42Z</dcterms:created>
  <dcterms:modified xsi:type="dcterms:W3CDTF">2026-09-16T13:38:20Z</dcterms:modified>
</cp:coreProperties>
</file>
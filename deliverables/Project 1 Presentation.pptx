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Opening. This project forecasts hourly temperature at RDU for the final two weeks of September. We built a reusable data pipeline and compared three modeling approaches using forecasts that would have been available at the time.</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We predict observed temperature, not a smoothed estimate. The task is a 336-hour horizon. The central design choice is preventing future information from entering training or evaluation, so all weather covariates come from archived forecasts available before the prediction period.</a:t>
            </a:r>
            <a:endParaRPr/>
          </a:p>
        </p:txBody>
      </p:sp>
      <p:sp>
        <p:nvSpPr>
          <p:cNvPr id="35" name="Google Shape;3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Haydn designed the data pipeline around common interfaces. Each source has its own subclass because the raw formats, units, and quality flags differ. The important benefit is not different API keys. It is that models do not need to know where data came from. They receive the same canonical hourly tables.</a:t>
            </a:r>
            <a:endParaRPr/>
          </a:p>
        </p:txBody>
      </p:sp>
      <p:sp>
        <p:nvSpPr>
          <p:cNvPr id="57" name="Google Shape;5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observation target comes from the RDU airport sources, NOAA GHCN-hourly and IEM ASOS. ECONet and ERA5 enter the shared historical panel. The reported final corrections use GFS covariates. GFS has a different role: it provides a real forecast of the future weather, which makes it suitable as a legal future feature.</a:t>
            </a:r>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GFS solves the future-feature issue. It is not the real future weather. It is a forecast that existed at the cutoff. For backtesting, we use a historically archived GFS run with the same forecast lead time as the final task, so the model does not get a better-quality weather forecast in training than it will get at prediction time.</a:t>
            </a:r>
            <a:endParaRPr/>
          </a:p>
        </p:txBody>
      </p:sp>
      <p:sp>
        <p:nvSpPr>
          <p:cNvPr id="122" name="Google Shape;12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We intentionally used three different approaches. Linear regression offers a clear baseline. Prophet provides an additive time-series framework. XGBoost captures nonlinear residual patterns. For the GFS-aware variants, all models use only covariates that would have been available before each cutoff.</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linear model is more than a raw calendar trend. It uses cyclical daily and annual terms, plus GFS temperature, forecast lead time, and their interaction. This makes it an interpretable GFS correction baseline. It is easy to inspect and useful for checking whether added model complexity provides value.</a:t>
            </a:r>
            <a:endParaRPr/>
          </a:p>
        </p:txBody>
      </p:sp>
      <p:sp>
        <p:nvSpPr>
          <p:cNvPr id="171" name="Google Shape;17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For Prophet, GFS temperature becomes an external regressor. We made one important evidence-based choice: Prophet's default trend and yearly seasonality hurt on the sparse forecast-run archive. Turning them off makes Prophet act as a controlled statistical correction of GFS rather than imposing long-term patterns that the archive does not support.</a:t>
            </a:r>
            <a:endParaRPr/>
          </a:p>
        </p:txBody>
      </p:sp>
      <p:sp>
        <p:nvSpPr>
          <p:cNvPr id="190" name="Google Shape;19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XGBoost does not forecast a whole time series by itself. Here it learns the GFS residual: observed temperature minus the raw GFS temperature. That preserves GFS's physical forecast and lets the trees learn nonlinear, location-specific bias corrections. Feature selection occurs within the training fold only.</a:t>
            </a:r>
            <a:endParaRPr/>
          </a:p>
        </p:txBody>
      </p:sp>
      <p:sp>
        <p:nvSpPr>
          <p:cNvPr id="210" name="Google Shape;21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feature engineering combines weather, forecast context, and calendar position. The interpolation flag tells the model which GFS hours came from native hourly output and which came from the coarser tail of the forecast. The key safeguard is fitting feature selection only on the training portion of each fold.</a:t>
            </a:r>
            <a:endParaRPr/>
          </a:p>
        </p:txBody>
      </p:sp>
      <p:sp>
        <p:nvSpPr>
          <p:cNvPr id="236" name="Google Shape;23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3572d3d76ded8a3d_1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h3572d3d76ded8a3d_1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This is the fairest head-to-head result in the repository: all models use the same 19 rolling GFS folds, and each prediction covers the same 336-hour horizon. Linear plus GFS has MAE 2.71 degrees Celsius, XGBoost 2.82, Prophet plus GFS 3.00, and raw GFS 3.23. All three lower average MAE versus raw GFS. The paired bootstrap supports the Linear plus GFS and XGBoost improvements, while Prophet's confidence interval crosses zero. We therefore select Linear plus GFS as the primary forecast. The September-only GFS check favors Prophet plus GFS at 2.17 degrees Celsius, but it has only two folds and cannot support model selection.</a:t>
            </a:r>
            <a:endParaRPr>
              <a:solidFill>
                <a:schemeClr val="dk1"/>
              </a:solidFill>
            </a:endParaRPr>
          </a:p>
          <a:p>
            <a:pPr indent="0" lvl="0" marL="0" rtl="0" algn="l">
              <a:spcBef>
                <a:spcPts val="0"/>
              </a:spcBef>
              <a:spcAft>
                <a:spcPts val="0"/>
              </a:spcAft>
              <a:buNone/>
            </a:pPr>
            <a:r>
              <a:t/>
            </a:r>
            <a:endParaRPr/>
          </a:p>
        </p:txBody>
      </p:sp>
      <p:sp>
        <p:nvSpPr>
          <p:cNvPr id="265" name="Google Shape;265;h3572d3d76ded8a3d_1_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3572d3d76ded8a3d_1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h3572d3d76ded8a3d_1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Our main lesson is methodological. The pipeline matters as much as the model because it defines what information is legal to use. The most reliable comparison uses matched forecast origins. The final selection follows the broader rolling evidence: Linear plus GFS has the lowest MAE and a statistically supported improvement over raw GFS. We retain XGBoost as a sensitivity check because it also improves the raw forecast and models nonlinear weather effects.</a:t>
            </a:r>
            <a:endParaRPr>
              <a:solidFill>
                <a:schemeClr val="dk1"/>
              </a:solidFill>
            </a:endParaRPr>
          </a:p>
          <a:p>
            <a:pPr indent="0" lvl="0" marL="0" rtl="0" algn="l">
              <a:spcBef>
                <a:spcPts val="0"/>
              </a:spcBef>
              <a:spcAft>
                <a:spcPts val="0"/>
              </a:spcAft>
              <a:buNone/>
            </a:pPr>
            <a:r>
              <a:t/>
            </a:r>
            <a:endParaRPr/>
          </a:p>
        </p:txBody>
      </p:sp>
      <p:sp>
        <p:nvSpPr>
          <p:cNvPr id="286" name="Google Shape;286;h3572d3d76ded8a3d_1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Thank you. We are happy to discuss the data pipeline, the leakage controls, why the models use archived GFS, or the evaluation results.</a:t>
            </a:r>
            <a:endParaRPr/>
          </a:p>
        </p:txBody>
      </p:sp>
      <p:sp>
        <p:nvSpPr>
          <p:cNvPr id="313" name="Google Shape;31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15" name="Shape 15"/>
        <p:cNvGrpSpPr/>
        <p:nvPr/>
      </p:nvGrpSpPr>
      <p:grpSpPr>
        <a:xfrm>
          <a:off x="0" y="0"/>
          <a:ext cx="0" cy="0"/>
          <a:chOff x="0" y="0"/>
          <a:chExt cx="0" cy="0"/>
        </a:xfrm>
      </p:grpSpPr>
      <p:sp>
        <p:nvSpPr>
          <p:cNvPr id="16" name="Google Shape;16;p3"/>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239000" y="0"/>
            <a:ext cx="4953000" cy="6858000"/>
          </a:xfrm>
          <a:prstGeom prst="rect">
            <a:avLst/>
          </a:prstGeom>
          <a:solidFill>
            <a:srgbClr val="0C2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 name="Google Shape;19;p3"/>
          <p:cNvCxnSpPr/>
          <p:nvPr/>
        </p:nvCxnSpPr>
        <p:spPr>
          <a:xfrm>
            <a:off x="7858125" y="4152900"/>
            <a:ext cx="619125" cy="819150"/>
          </a:xfrm>
          <a:prstGeom prst="straightConnector1">
            <a:avLst/>
          </a:prstGeom>
          <a:noFill/>
          <a:ln cap="flat" cmpd="sng" w="28575">
            <a:solidFill>
              <a:srgbClr val="8EC5EA"/>
            </a:solidFill>
            <a:prstDash val="solid"/>
            <a:round/>
            <a:headEnd len="sm" w="sm" type="none"/>
            <a:tailEnd len="sm" w="sm" type="none"/>
          </a:ln>
        </p:spPr>
      </p:cxnSp>
      <p:cxnSp>
        <p:nvCxnSpPr>
          <p:cNvPr id="20" name="Google Shape;20;p3"/>
          <p:cNvCxnSpPr/>
          <p:nvPr/>
        </p:nvCxnSpPr>
        <p:spPr>
          <a:xfrm>
            <a:off x="8477250" y="4152900"/>
            <a:ext cx="666750" cy="447675"/>
          </a:xfrm>
          <a:prstGeom prst="straightConnector1">
            <a:avLst/>
          </a:prstGeom>
          <a:noFill/>
          <a:ln cap="flat" cmpd="sng" w="28575">
            <a:solidFill>
              <a:srgbClr val="8EC5EA"/>
            </a:solidFill>
            <a:prstDash val="solid"/>
            <a:round/>
            <a:headEnd len="sm" w="sm" type="none"/>
            <a:tailEnd len="sm" w="sm" type="none"/>
          </a:ln>
        </p:spPr>
      </p:cxnSp>
      <p:cxnSp>
        <p:nvCxnSpPr>
          <p:cNvPr id="21" name="Google Shape;21;p3"/>
          <p:cNvCxnSpPr/>
          <p:nvPr/>
        </p:nvCxnSpPr>
        <p:spPr>
          <a:xfrm>
            <a:off x="9144000" y="3343275"/>
            <a:ext cx="685800" cy="1257300"/>
          </a:xfrm>
          <a:prstGeom prst="straightConnector1">
            <a:avLst/>
          </a:prstGeom>
          <a:noFill/>
          <a:ln cap="flat" cmpd="sng" w="28575">
            <a:solidFill>
              <a:srgbClr val="8EC5EA"/>
            </a:solidFill>
            <a:prstDash val="solid"/>
            <a:round/>
            <a:headEnd len="sm" w="sm" type="none"/>
            <a:tailEnd len="sm" w="sm" type="none"/>
          </a:ln>
        </p:spPr>
      </p:cxnSp>
      <p:cxnSp>
        <p:nvCxnSpPr>
          <p:cNvPr id="22" name="Google Shape;22;p3"/>
          <p:cNvCxnSpPr/>
          <p:nvPr/>
        </p:nvCxnSpPr>
        <p:spPr>
          <a:xfrm>
            <a:off x="9829800" y="3343275"/>
            <a:ext cx="714375" cy="533400"/>
          </a:xfrm>
          <a:prstGeom prst="straightConnector1">
            <a:avLst/>
          </a:prstGeom>
          <a:noFill/>
          <a:ln cap="flat" cmpd="sng" w="28575">
            <a:solidFill>
              <a:srgbClr val="8EC5EA"/>
            </a:solidFill>
            <a:prstDash val="solid"/>
            <a:round/>
            <a:headEnd len="sm" w="sm" type="none"/>
            <a:tailEnd len="sm" w="sm" type="none"/>
          </a:ln>
        </p:spPr>
      </p:cxnSp>
      <p:sp>
        <p:nvSpPr>
          <p:cNvPr id="23" name="Google Shape;23;p3"/>
          <p:cNvSpPr/>
          <p:nvPr/>
        </p:nvSpPr>
        <p:spPr>
          <a:xfrm>
            <a:off x="8420100" y="4086225"/>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9086850" y="4533900"/>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9772650" y="3276600"/>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819150" y="1285875"/>
            <a:ext cx="23812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50">
                <a:solidFill>
                  <a:srgbClr val="8EC5EA"/>
                </a:solidFill>
                <a:latin typeface="Arial"/>
                <a:ea typeface="Arial"/>
                <a:cs typeface="Arial"/>
                <a:sym typeface="Arial"/>
              </a:rPr>
              <a:t>AIPI 520 · PROJECT 1</a:t>
            </a:r>
            <a:endParaRPr/>
          </a:p>
        </p:txBody>
      </p:sp>
      <p:sp>
        <p:nvSpPr>
          <p:cNvPr id="27" name="Google Shape;27;p3"/>
          <p:cNvSpPr/>
          <p:nvPr/>
        </p:nvSpPr>
        <p:spPr>
          <a:xfrm>
            <a:off x="819150" y="1733550"/>
            <a:ext cx="6000750" cy="140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836">
                <a:solidFill>
                  <a:srgbClr val="F3F7FB"/>
                </a:solidFill>
                <a:latin typeface="Arial"/>
                <a:ea typeface="Arial"/>
                <a:cs typeface="Arial"/>
                <a:sym typeface="Arial"/>
              </a:rPr>
              <a:t>RDU Hourly</a:t>
            </a:r>
            <a:endParaRPr/>
          </a:p>
          <a:p>
            <a:pPr indent="0" lvl="0" marL="0" marR="0" rtl="0" algn="l">
              <a:spcBef>
                <a:spcPts val="0"/>
              </a:spcBef>
              <a:spcAft>
                <a:spcPts val="0"/>
              </a:spcAft>
              <a:buNone/>
            </a:pPr>
            <a:r>
              <a:rPr b="1" lang="en-US" sz="3836">
                <a:solidFill>
                  <a:srgbClr val="F3F7FB"/>
                </a:solidFill>
                <a:latin typeface="Arial"/>
                <a:ea typeface="Arial"/>
                <a:cs typeface="Arial"/>
                <a:sym typeface="Arial"/>
              </a:rPr>
              <a:t>Temperature Forecasting</a:t>
            </a:r>
            <a:endParaRPr/>
          </a:p>
        </p:txBody>
      </p:sp>
      <p:sp>
        <p:nvSpPr>
          <p:cNvPr id="28" name="Google Shape;28;p3"/>
          <p:cNvSpPr/>
          <p:nvPr/>
        </p:nvSpPr>
        <p:spPr>
          <a:xfrm>
            <a:off x="857250" y="3524250"/>
            <a:ext cx="54292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37">
                <a:solidFill>
                  <a:srgbClr val="AEC4D6"/>
                </a:solidFill>
                <a:latin typeface="Arial"/>
                <a:ea typeface="Arial"/>
                <a:cs typeface="Arial"/>
                <a:sym typeface="Arial"/>
              </a:rPr>
              <a:t>A 336-hour forecast for Raleigh–Durham</a:t>
            </a:r>
            <a:endParaRPr/>
          </a:p>
          <a:p>
            <a:pPr indent="0" lvl="0" marL="0" marR="0" rtl="0" algn="l">
              <a:spcBef>
                <a:spcPts val="0"/>
              </a:spcBef>
              <a:spcAft>
                <a:spcPts val="0"/>
              </a:spcAft>
              <a:buNone/>
            </a:pPr>
            <a:r>
              <a:rPr b="0" lang="en-US" sz="1637">
                <a:solidFill>
                  <a:srgbClr val="AEC4D6"/>
                </a:solidFill>
                <a:latin typeface="Arial"/>
                <a:ea typeface="Arial"/>
                <a:cs typeface="Arial"/>
                <a:sym typeface="Arial"/>
              </a:rPr>
              <a:t>International Airport</a:t>
            </a:r>
            <a:endParaRPr/>
          </a:p>
        </p:txBody>
      </p:sp>
      <p:cxnSp>
        <p:nvCxnSpPr>
          <p:cNvPr id="29" name="Google Shape;29;p3"/>
          <p:cNvCxnSpPr/>
          <p:nvPr/>
        </p:nvCxnSpPr>
        <p:spPr>
          <a:xfrm>
            <a:off x="857250" y="4505325"/>
            <a:ext cx="1619250" cy="0"/>
          </a:xfrm>
          <a:prstGeom prst="straightConnector1">
            <a:avLst/>
          </a:prstGeom>
          <a:noFill/>
          <a:ln cap="flat" cmpd="sng" w="28575">
            <a:solidFill>
              <a:srgbClr val="8EC5EA"/>
            </a:solidFill>
            <a:prstDash val="solid"/>
            <a:round/>
            <a:headEnd len="sm" w="sm" type="none"/>
            <a:tailEnd len="sm" w="sm" type="none"/>
          </a:ln>
        </p:spPr>
      </p:cxnSp>
      <p:sp>
        <p:nvSpPr>
          <p:cNvPr id="30" name="Google Shape;30;p3"/>
          <p:cNvSpPr/>
          <p:nvPr/>
        </p:nvSpPr>
        <p:spPr>
          <a:xfrm>
            <a:off x="857250" y="4733925"/>
            <a:ext cx="4000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25">
                <a:solidFill>
                  <a:srgbClr val="F3F7FB"/>
                </a:solidFill>
                <a:latin typeface="Arial"/>
                <a:ea typeface="Arial"/>
                <a:cs typeface="Arial"/>
                <a:sym typeface="Arial"/>
              </a:rPr>
              <a:t>September 17–30, 2026</a:t>
            </a:r>
            <a:endParaRPr/>
          </a:p>
        </p:txBody>
      </p:sp>
      <p:sp>
        <p:nvSpPr>
          <p:cNvPr id="31" name="Google Shape;31;p3"/>
          <p:cNvSpPr/>
          <p:nvPr/>
        </p:nvSpPr>
        <p:spPr>
          <a:xfrm>
            <a:off x="857250" y="5715000"/>
            <a:ext cx="5905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00">
                <a:solidFill>
                  <a:srgbClr val="AEC4D6"/>
                </a:solidFill>
                <a:latin typeface="Arial"/>
                <a:ea typeface="Arial"/>
                <a:cs typeface="Arial"/>
                <a:sym typeface="Arial"/>
              </a:rPr>
              <a:t>Data pipeline  ·  Linear regression  ·  Prophet  ·  XGBoost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36" name="Shape 36"/>
        <p:cNvGrpSpPr/>
        <p:nvPr/>
      </p:nvGrpSpPr>
      <p:grpSpPr>
        <a:xfrm>
          <a:off x="0" y="0"/>
          <a:ext cx="0" cy="0"/>
          <a:chOff x="0" y="0"/>
          <a:chExt cx="0" cy="0"/>
        </a:xfrm>
      </p:grpSpPr>
      <p:sp>
        <p:nvSpPr>
          <p:cNvPr id="37" name="Google Shape;37;p4"/>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Forecasting task and design</a:t>
            </a:r>
            <a:endParaRPr/>
          </a:p>
        </p:txBody>
      </p:sp>
      <p:sp>
        <p:nvSpPr>
          <p:cNvPr id="40" name="Google Shape;40;p4"/>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42" name="Google Shape;42;p4"/>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02</a:t>
            </a:r>
            <a:endParaRPr/>
          </a:p>
        </p:txBody>
      </p:sp>
      <p:sp>
        <p:nvSpPr>
          <p:cNvPr id="43" name="Google Shape;43;p4"/>
          <p:cNvSpPr/>
          <p:nvPr/>
        </p:nvSpPr>
        <p:spPr>
          <a:xfrm>
            <a:off x="857250" y="1809750"/>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50">
                <a:solidFill>
                  <a:srgbClr val="8EC5EA"/>
                </a:solidFill>
                <a:latin typeface="Arial"/>
                <a:ea typeface="Arial"/>
                <a:cs typeface="Arial"/>
                <a:sym typeface="Arial"/>
              </a:rPr>
              <a:t>TARGET</a:t>
            </a:r>
            <a:endParaRPr/>
          </a:p>
        </p:txBody>
      </p:sp>
      <p:sp>
        <p:nvSpPr>
          <p:cNvPr id="44" name="Google Shape;44;p4"/>
          <p:cNvSpPr/>
          <p:nvPr/>
        </p:nvSpPr>
        <p:spPr>
          <a:xfrm>
            <a:off x="857250" y="2171700"/>
            <a:ext cx="3333750" cy="704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12">
                <a:solidFill>
                  <a:srgbClr val="F3F7FB"/>
                </a:solidFill>
                <a:latin typeface="Arial"/>
                <a:ea typeface="Arial"/>
                <a:cs typeface="Arial"/>
                <a:sym typeface="Arial"/>
              </a:rPr>
              <a:t>Observed hourly</a:t>
            </a:r>
            <a:endParaRPr/>
          </a:p>
          <a:p>
            <a:pPr indent="0" lvl="0" marL="0" marR="0" rtl="0" algn="l">
              <a:spcBef>
                <a:spcPts val="0"/>
              </a:spcBef>
              <a:spcAft>
                <a:spcPts val="0"/>
              </a:spcAft>
              <a:buNone/>
            </a:pPr>
            <a:r>
              <a:rPr b="1" lang="en-US" sz="2012">
                <a:solidFill>
                  <a:srgbClr val="F3F7FB"/>
                </a:solidFill>
                <a:latin typeface="Arial"/>
                <a:ea typeface="Arial"/>
                <a:cs typeface="Arial"/>
                <a:sym typeface="Arial"/>
              </a:rPr>
              <a:t>temperature at RDU</a:t>
            </a:r>
            <a:endParaRPr/>
          </a:p>
        </p:txBody>
      </p:sp>
      <p:sp>
        <p:nvSpPr>
          <p:cNvPr id="45" name="Google Shape;45;p4"/>
          <p:cNvSpPr/>
          <p:nvPr/>
        </p:nvSpPr>
        <p:spPr>
          <a:xfrm>
            <a:off x="857250" y="3524250"/>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50">
                <a:solidFill>
                  <a:srgbClr val="8EC5EA"/>
                </a:solidFill>
                <a:latin typeface="Arial"/>
                <a:ea typeface="Arial"/>
                <a:cs typeface="Arial"/>
                <a:sym typeface="Arial"/>
              </a:rPr>
              <a:t>FORECAST HORIZON</a:t>
            </a:r>
            <a:endParaRPr/>
          </a:p>
        </p:txBody>
      </p:sp>
      <p:sp>
        <p:nvSpPr>
          <p:cNvPr id="46" name="Google Shape;46;p4"/>
          <p:cNvSpPr/>
          <p:nvPr/>
        </p:nvSpPr>
        <p:spPr>
          <a:xfrm>
            <a:off x="857250" y="3905250"/>
            <a:ext cx="2476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13">
                <a:solidFill>
                  <a:srgbClr val="8EC5EA"/>
                </a:solidFill>
                <a:latin typeface="Arial"/>
                <a:ea typeface="Arial"/>
                <a:cs typeface="Arial"/>
                <a:sym typeface="Arial"/>
              </a:rPr>
              <a:t>14 days</a:t>
            </a:r>
            <a:endParaRPr/>
          </a:p>
        </p:txBody>
      </p:sp>
      <p:sp>
        <p:nvSpPr>
          <p:cNvPr id="47" name="Google Shape;47;p4"/>
          <p:cNvSpPr/>
          <p:nvPr/>
        </p:nvSpPr>
        <p:spPr>
          <a:xfrm>
            <a:off x="857250" y="4352925"/>
            <a:ext cx="2476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12">
                <a:solidFill>
                  <a:srgbClr val="F3F7FB"/>
                </a:solidFill>
                <a:latin typeface="Arial"/>
                <a:ea typeface="Arial"/>
                <a:cs typeface="Arial"/>
                <a:sym typeface="Arial"/>
              </a:rPr>
              <a:t>336 hours</a:t>
            </a:r>
            <a:endParaRPr/>
          </a:p>
        </p:txBody>
      </p:sp>
      <p:cxnSp>
        <p:nvCxnSpPr>
          <p:cNvPr id="48" name="Google Shape;48;p4"/>
          <p:cNvCxnSpPr/>
          <p:nvPr/>
        </p:nvCxnSpPr>
        <p:spPr>
          <a:xfrm>
            <a:off x="4857750" y="1752600"/>
            <a:ext cx="0" cy="3276600"/>
          </a:xfrm>
          <a:prstGeom prst="straightConnector1">
            <a:avLst/>
          </a:prstGeom>
          <a:noFill/>
          <a:ln cap="flat" cmpd="sng" w="19050">
            <a:solidFill>
              <a:srgbClr val="244866"/>
            </a:solidFill>
            <a:prstDash val="solid"/>
            <a:round/>
            <a:headEnd len="sm" w="sm" type="none"/>
            <a:tailEnd len="sm" w="sm" type="none"/>
          </a:ln>
        </p:spPr>
      </p:cxnSp>
      <p:sp>
        <p:nvSpPr>
          <p:cNvPr id="49" name="Google Shape;49;p4"/>
          <p:cNvSpPr/>
          <p:nvPr/>
        </p:nvSpPr>
        <p:spPr>
          <a:xfrm>
            <a:off x="5619750" y="1809750"/>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650">
                <a:solidFill>
                  <a:srgbClr val="8EC5EA"/>
                </a:solidFill>
                <a:latin typeface="Arial"/>
                <a:ea typeface="Arial"/>
                <a:cs typeface="Arial"/>
                <a:sym typeface="Arial"/>
              </a:rPr>
              <a:t>CORE CONSTRAINT</a:t>
            </a:r>
            <a:endParaRPr/>
          </a:p>
        </p:txBody>
      </p:sp>
      <p:sp>
        <p:nvSpPr>
          <p:cNvPr id="50" name="Google Shape;50;p4"/>
          <p:cNvSpPr/>
          <p:nvPr/>
        </p:nvSpPr>
        <p:spPr>
          <a:xfrm>
            <a:off x="5619750" y="2209800"/>
            <a:ext cx="4953000" cy="819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87">
                <a:solidFill>
                  <a:srgbClr val="F3F7FB"/>
                </a:solidFill>
                <a:latin typeface="Arial"/>
                <a:ea typeface="Arial"/>
                <a:cs typeface="Arial"/>
                <a:sym typeface="Arial"/>
              </a:rPr>
              <a:t>Future observations</a:t>
            </a:r>
            <a:endParaRPr/>
          </a:p>
          <a:p>
            <a:pPr indent="0" lvl="0" marL="0" marR="0" rtl="0" algn="l">
              <a:spcBef>
                <a:spcPts val="0"/>
              </a:spcBef>
              <a:spcAft>
                <a:spcPts val="0"/>
              </a:spcAft>
              <a:buNone/>
            </a:pPr>
            <a:r>
              <a:rPr b="1" lang="en-US" sz="2387">
                <a:solidFill>
                  <a:srgbClr val="F3F7FB"/>
                </a:solidFill>
                <a:latin typeface="Arial"/>
                <a:ea typeface="Arial"/>
                <a:cs typeface="Arial"/>
                <a:sym typeface="Arial"/>
              </a:rPr>
              <a:t>cannot become features.</a:t>
            </a:r>
            <a:endParaRPr/>
          </a:p>
        </p:txBody>
      </p:sp>
      <p:sp>
        <p:nvSpPr>
          <p:cNvPr id="51" name="Google Shape;51;p4"/>
          <p:cNvSpPr/>
          <p:nvPr/>
        </p:nvSpPr>
        <p:spPr>
          <a:xfrm>
            <a:off x="5657850" y="3295650"/>
            <a:ext cx="466725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19">
                <a:solidFill>
                  <a:srgbClr val="AEC4D6"/>
                </a:solidFill>
                <a:latin typeface="Arial"/>
                <a:ea typeface="Arial"/>
                <a:cs typeface="Arial"/>
                <a:sym typeface="Arial"/>
              </a:rPr>
              <a:t>Every covariate must be available before</a:t>
            </a:r>
            <a:endParaRPr/>
          </a:p>
          <a:p>
            <a:pPr indent="0" lvl="0" marL="0" marR="0" rtl="0" algn="l">
              <a:spcBef>
                <a:spcPts val="0"/>
              </a:spcBef>
              <a:spcAft>
                <a:spcPts val="0"/>
              </a:spcAft>
              <a:buNone/>
            </a:pPr>
            <a:r>
              <a:rPr b="0" lang="en-US" sz="1419">
                <a:solidFill>
                  <a:srgbClr val="AEC4D6"/>
                </a:solidFill>
                <a:latin typeface="Arial"/>
                <a:ea typeface="Arial"/>
                <a:cs typeface="Arial"/>
                <a:sym typeface="Arial"/>
              </a:rPr>
              <a:t>the forecast cutoff.</a:t>
            </a:r>
            <a:endParaRPr/>
          </a:p>
        </p:txBody>
      </p:sp>
      <p:sp>
        <p:nvSpPr>
          <p:cNvPr id="52" name="Google Shape;52;p4"/>
          <p:cNvSpPr/>
          <p:nvPr/>
        </p:nvSpPr>
        <p:spPr>
          <a:xfrm>
            <a:off x="5619750" y="4381500"/>
            <a:ext cx="4762500" cy="70485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5905500" y="4591050"/>
            <a:ext cx="4191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197">
                <a:solidFill>
                  <a:srgbClr val="0B2943"/>
                </a:solidFill>
                <a:latin typeface="Arial"/>
                <a:ea typeface="Arial"/>
                <a:cs typeface="Arial"/>
                <a:sym typeface="Arial"/>
              </a:rPr>
              <a:t>Historical RDU observations  +  archived GFS forecasts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58" name="Shape 58"/>
        <p:cNvGrpSpPr/>
        <p:nvPr/>
      </p:nvGrpSpPr>
      <p:grpSpPr>
        <a:xfrm>
          <a:off x="0" y="0"/>
          <a:ext cx="0" cy="0"/>
          <a:chOff x="0" y="0"/>
          <a:chExt cx="0" cy="0"/>
        </a:xfrm>
      </p:grpSpPr>
      <p:sp>
        <p:nvSpPr>
          <p:cNvPr id="59" name="Google Shape;59;p5"/>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Reusable data pipeline</a:t>
            </a:r>
            <a:endParaRPr/>
          </a:p>
        </p:txBody>
      </p:sp>
      <p:sp>
        <p:nvSpPr>
          <p:cNvPr id="62" name="Google Shape;62;p5"/>
          <p:cNvSpPr/>
          <p:nvPr/>
        </p:nvSpPr>
        <p:spPr>
          <a:xfrm>
            <a:off x="704850" y="914400"/>
            <a:ext cx="9906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50">
                <a:solidFill>
                  <a:srgbClr val="AEC4D6"/>
                </a:solidFill>
                <a:latin typeface="Arial"/>
                <a:ea typeface="Arial"/>
                <a:cs typeface="Arial"/>
                <a:sym typeface="Arial"/>
              </a:rPr>
              <a:t>One data contract, used by every model</a:t>
            </a:r>
            <a:endParaRPr sz="1900"/>
          </a:p>
        </p:txBody>
      </p:sp>
      <p:sp>
        <p:nvSpPr>
          <p:cNvPr id="63" name="Google Shape;63;p5"/>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65" name="Google Shape;65;p5"/>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03</a:t>
            </a:r>
            <a:endParaRPr/>
          </a:p>
        </p:txBody>
      </p:sp>
      <p:sp>
        <p:nvSpPr>
          <p:cNvPr id="66" name="Google Shape;66;p5"/>
          <p:cNvSpPr/>
          <p:nvPr/>
        </p:nvSpPr>
        <p:spPr>
          <a:xfrm>
            <a:off x="876300" y="1847850"/>
            <a:ext cx="4953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50">
                <a:solidFill>
                  <a:srgbClr val="8EC5EA"/>
                </a:solidFill>
                <a:latin typeface="Arial"/>
                <a:ea typeface="Arial"/>
                <a:cs typeface="Arial"/>
                <a:sym typeface="Arial"/>
              </a:rPr>
              <a:t>01</a:t>
            </a:r>
            <a:endParaRPr sz="1900"/>
          </a:p>
        </p:txBody>
      </p:sp>
      <p:sp>
        <p:nvSpPr>
          <p:cNvPr id="67" name="Google Shape;67;p5"/>
          <p:cNvSpPr/>
          <p:nvPr/>
        </p:nvSpPr>
        <p:spPr>
          <a:xfrm>
            <a:off x="1733550" y="1866900"/>
            <a:ext cx="2095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25">
                <a:solidFill>
                  <a:srgbClr val="F3F7FB"/>
                </a:solidFill>
                <a:latin typeface="Arial"/>
                <a:ea typeface="Arial"/>
                <a:cs typeface="Arial"/>
                <a:sym typeface="Arial"/>
              </a:rPr>
              <a:t>Sources</a:t>
            </a:r>
            <a:endParaRPr sz="1900"/>
          </a:p>
        </p:txBody>
      </p:sp>
      <p:sp>
        <p:nvSpPr>
          <p:cNvPr id="68" name="Google Shape;68;p5"/>
          <p:cNvSpPr/>
          <p:nvPr/>
        </p:nvSpPr>
        <p:spPr>
          <a:xfrm>
            <a:off x="4381500" y="1885950"/>
            <a:ext cx="5715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AEC4D6"/>
                </a:solidFill>
                <a:latin typeface="Arial"/>
                <a:ea typeface="Arial"/>
                <a:cs typeface="Arial"/>
                <a:sym typeface="Arial"/>
              </a:rPr>
              <a:t>NOAA  ·  IEM  ·  ERA5  ·  ECONet</a:t>
            </a:r>
            <a:endParaRPr sz="1900"/>
          </a:p>
        </p:txBody>
      </p:sp>
      <p:cxnSp>
        <p:nvCxnSpPr>
          <p:cNvPr id="69" name="Google Shape;69;p5"/>
          <p:cNvCxnSpPr/>
          <p:nvPr/>
        </p:nvCxnSpPr>
        <p:spPr>
          <a:xfrm>
            <a:off x="1733550" y="2419350"/>
            <a:ext cx="8362950" cy="0"/>
          </a:xfrm>
          <a:prstGeom prst="straightConnector1">
            <a:avLst/>
          </a:prstGeom>
          <a:noFill/>
          <a:ln cap="flat" cmpd="sng" w="9525">
            <a:solidFill>
              <a:srgbClr val="244866"/>
            </a:solidFill>
            <a:prstDash val="solid"/>
            <a:round/>
            <a:headEnd len="sm" w="sm" type="none"/>
            <a:tailEnd len="sm" w="sm" type="none"/>
          </a:ln>
        </p:spPr>
      </p:cxnSp>
      <p:sp>
        <p:nvSpPr>
          <p:cNvPr id="70" name="Google Shape;70;p5"/>
          <p:cNvSpPr/>
          <p:nvPr/>
        </p:nvSpPr>
        <p:spPr>
          <a:xfrm>
            <a:off x="876300" y="2714625"/>
            <a:ext cx="4953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50">
                <a:solidFill>
                  <a:srgbClr val="8EC5EA"/>
                </a:solidFill>
                <a:latin typeface="Arial"/>
                <a:ea typeface="Arial"/>
                <a:cs typeface="Arial"/>
                <a:sym typeface="Arial"/>
              </a:rPr>
              <a:t>02</a:t>
            </a:r>
            <a:endParaRPr sz="1900"/>
          </a:p>
        </p:txBody>
      </p:sp>
      <p:sp>
        <p:nvSpPr>
          <p:cNvPr id="71" name="Google Shape;71;p5"/>
          <p:cNvSpPr/>
          <p:nvPr/>
        </p:nvSpPr>
        <p:spPr>
          <a:xfrm>
            <a:off x="1733550" y="2733675"/>
            <a:ext cx="2095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25">
                <a:solidFill>
                  <a:srgbClr val="F3F7FB"/>
                </a:solidFill>
                <a:latin typeface="Arial"/>
                <a:ea typeface="Arial"/>
                <a:cs typeface="Arial"/>
                <a:sym typeface="Arial"/>
              </a:rPr>
              <a:t>Adapters</a:t>
            </a:r>
            <a:endParaRPr sz="1900"/>
          </a:p>
        </p:txBody>
      </p:sp>
      <p:sp>
        <p:nvSpPr>
          <p:cNvPr id="72" name="Google Shape;72;p5"/>
          <p:cNvSpPr/>
          <p:nvPr/>
        </p:nvSpPr>
        <p:spPr>
          <a:xfrm>
            <a:off x="4381500" y="2752725"/>
            <a:ext cx="5715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AEC4D6"/>
                </a:solidFill>
                <a:latin typeface="Arial"/>
                <a:ea typeface="Arial"/>
                <a:cs typeface="Arial"/>
                <a:sym typeface="Arial"/>
              </a:rPr>
              <a:t>Units  ·  quality flags  ·  field mapping</a:t>
            </a:r>
            <a:endParaRPr sz="1900"/>
          </a:p>
        </p:txBody>
      </p:sp>
      <p:cxnSp>
        <p:nvCxnSpPr>
          <p:cNvPr id="73" name="Google Shape;73;p5"/>
          <p:cNvCxnSpPr/>
          <p:nvPr/>
        </p:nvCxnSpPr>
        <p:spPr>
          <a:xfrm>
            <a:off x="1733550" y="3286125"/>
            <a:ext cx="8362950" cy="0"/>
          </a:xfrm>
          <a:prstGeom prst="straightConnector1">
            <a:avLst/>
          </a:prstGeom>
          <a:noFill/>
          <a:ln cap="flat" cmpd="sng" w="9525">
            <a:solidFill>
              <a:srgbClr val="244866"/>
            </a:solidFill>
            <a:prstDash val="solid"/>
            <a:round/>
            <a:headEnd len="sm" w="sm" type="none"/>
            <a:tailEnd len="sm" w="sm" type="none"/>
          </a:ln>
        </p:spPr>
      </p:cxnSp>
      <p:sp>
        <p:nvSpPr>
          <p:cNvPr id="74" name="Google Shape;74;p5"/>
          <p:cNvSpPr/>
          <p:nvPr/>
        </p:nvSpPr>
        <p:spPr>
          <a:xfrm>
            <a:off x="876300" y="3581400"/>
            <a:ext cx="4953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50">
                <a:solidFill>
                  <a:srgbClr val="8EC5EA"/>
                </a:solidFill>
                <a:latin typeface="Arial"/>
                <a:ea typeface="Arial"/>
                <a:cs typeface="Arial"/>
                <a:sym typeface="Arial"/>
              </a:rPr>
              <a:t>03</a:t>
            </a:r>
            <a:endParaRPr sz="1900"/>
          </a:p>
        </p:txBody>
      </p:sp>
      <p:sp>
        <p:nvSpPr>
          <p:cNvPr id="75" name="Google Shape;75;p5"/>
          <p:cNvSpPr/>
          <p:nvPr/>
        </p:nvSpPr>
        <p:spPr>
          <a:xfrm>
            <a:off x="1733550" y="3600450"/>
            <a:ext cx="2095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25">
                <a:solidFill>
                  <a:srgbClr val="F3F7FB"/>
                </a:solidFill>
                <a:latin typeface="Arial"/>
                <a:ea typeface="Arial"/>
                <a:cs typeface="Arial"/>
                <a:sym typeface="Arial"/>
              </a:rPr>
              <a:t>Hourly data</a:t>
            </a:r>
            <a:endParaRPr sz="1900"/>
          </a:p>
        </p:txBody>
      </p:sp>
      <p:sp>
        <p:nvSpPr>
          <p:cNvPr id="76" name="Google Shape;76;p5"/>
          <p:cNvSpPr/>
          <p:nvPr/>
        </p:nvSpPr>
        <p:spPr>
          <a:xfrm>
            <a:off x="4381500" y="3619500"/>
            <a:ext cx="5715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AEC4D6"/>
                </a:solidFill>
                <a:latin typeface="Arial"/>
                <a:ea typeface="Arial"/>
                <a:cs typeface="Arial"/>
                <a:sym typeface="Arial"/>
              </a:rPr>
              <a:t>Panel  ·  RDU target  ·  GFS forecast panel</a:t>
            </a:r>
            <a:endParaRPr sz="1900"/>
          </a:p>
        </p:txBody>
      </p:sp>
      <p:cxnSp>
        <p:nvCxnSpPr>
          <p:cNvPr id="77" name="Google Shape;77;p5"/>
          <p:cNvCxnSpPr/>
          <p:nvPr/>
        </p:nvCxnSpPr>
        <p:spPr>
          <a:xfrm>
            <a:off x="1733550" y="4152900"/>
            <a:ext cx="8362950" cy="0"/>
          </a:xfrm>
          <a:prstGeom prst="straightConnector1">
            <a:avLst/>
          </a:prstGeom>
          <a:noFill/>
          <a:ln cap="flat" cmpd="sng" w="9525">
            <a:solidFill>
              <a:srgbClr val="244866"/>
            </a:solidFill>
            <a:prstDash val="solid"/>
            <a:round/>
            <a:headEnd len="sm" w="sm" type="none"/>
            <a:tailEnd len="sm" w="sm" type="none"/>
          </a:ln>
        </p:spPr>
      </p:cxnSp>
      <p:sp>
        <p:nvSpPr>
          <p:cNvPr id="78" name="Google Shape;78;p5"/>
          <p:cNvSpPr/>
          <p:nvPr/>
        </p:nvSpPr>
        <p:spPr>
          <a:xfrm>
            <a:off x="876300" y="4448175"/>
            <a:ext cx="4953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50">
                <a:solidFill>
                  <a:srgbClr val="8EC5EA"/>
                </a:solidFill>
                <a:latin typeface="Arial"/>
                <a:ea typeface="Arial"/>
                <a:cs typeface="Arial"/>
                <a:sym typeface="Arial"/>
              </a:rPr>
              <a:t>04</a:t>
            </a:r>
            <a:endParaRPr sz="1900"/>
          </a:p>
        </p:txBody>
      </p:sp>
      <p:sp>
        <p:nvSpPr>
          <p:cNvPr id="79" name="Google Shape;79;p5"/>
          <p:cNvSpPr/>
          <p:nvPr/>
        </p:nvSpPr>
        <p:spPr>
          <a:xfrm>
            <a:off x="1733550" y="4467225"/>
            <a:ext cx="20955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25">
                <a:solidFill>
                  <a:srgbClr val="F3F7FB"/>
                </a:solidFill>
                <a:latin typeface="Arial"/>
                <a:ea typeface="Arial"/>
                <a:cs typeface="Arial"/>
                <a:sym typeface="Arial"/>
              </a:rPr>
              <a:t>Models</a:t>
            </a:r>
            <a:endParaRPr sz="1900"/>
          </a:p>
        </p:txBody>
      </p:sp>
      <p:sp>
        <p:nvSpPr>
          <p:cNvPr id="80" name="Google Shape;80;p5"/>
          <p:cNvSpPr/>
          <p:nvPr/>
        </p:nvSpPr>
        <p:spPr>
          <a:xfrm>
            <a:off x="4381500" y="4486275"/>
            <a:ext cx="5715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AEC4D6"/>
                </a:solidFill>
                <a:latin typeface="Arial"/>
                <a:ea typeface="Arial"/>
                <a:cs typeface="Arial"/>
                <a:sym typeface="Arial"/>
              </a:rPr>
              <a:t>Linear  ·  Prophet  ·  XGBoost</a:t>
            </a:r>
            <a:endParaRPr sz="1900"/>
          </a:p>
        </p:txBody>
      </p:sp>
      <p:sp>
        <p:nvSpPr>
          <p:cNvPr id="81" name="Google Shape;81;p5"/>
          <p:cNvSpPr/>
          <p:nvPr/>
        </p:nvSpPr>
        <p:spPr>
          <a:xfrm>
            <a:off x="876300" y="5505450"/>
            <a:ext cx="9734400" cy="5571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1104900" y="5638800"/>
            <a:ext cx="9286875"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0B2943"/>
                </a:solidFill>
                <a:latin typeface="Arial"/>
                <a:ea typeface="Arial"/>
                <a:cs typeface="Arial"/>
                <a:sym typeface="Arial"/>
              </a:rPr>
              <a:t>Each source implements the same fetch / normalize contract. Models never need source-specific cleaning logic.</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87" name="Shape 87"/>
        <p:cNvGrpSpPr/>
        <p:nvPr/>
      </p:nvGrpSpPr>
      <p:grpSpPr>
        <a:xfrm>
          <a:off x="0" y="0"/>
          <a:ext cx="0" cy="0"/>
          <a:chOff x="0" y="0"/>
          <a:chExt cx="0" cy="0"/>
        </a:xfrm>
      </p:grpSpPr>
      <p:sp>
        <p:nvSpPr>
          <p:cNvPr id="88" name="Google Shape;88;p6"/>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89" name="Google Shape;89;p6"/>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Data sources and their roles</a:t>
            </a:r>
            <a:endParaRPr/>
          </a:p>
        </p:txBody>
      </p:sp>
      <p:sp>
        <p:nvSpPr>
          <p:cNvPr id="91" name="Google Shape;91;p6"/>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93" name="Google Shape;93;p6"/>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04</a:t>
            </a:r>
            <a:endParaRPr/>
          </a:p>
        </p:txBody>
      </p:sp>
      <p:sp>
        <p:nvSpPr>
          <p:cNvPr id="94" name="Google Shape;94;p6"/>
          <p:cNvSpPr/>
          <p:nvPr/>
        </p:nvSpPr>
        <p:spPr>
          <a:xfrm>
            <a:off x="971550" y="1695450"/>
            <a:ext cx="2333700" cy="1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25">
                <a:solidFill>
                  <a:srgbClr val="8EC5EA"/>
                </a:solidFill>
                <a:latin typeface="Arial"/>
                <a:ea typeface="Arial"/>
                <a:cs typeface="Arial"/>
                <a:sym typeface="Arial"/>
              </a:rPr>
              <a:t>SOURCE</a:t>
            </a:r>
            <a:endParaRPr sz="2700"/>
          </a:p>
        </p:txBody>
      </p:sp>
      <p:sp>
        <p:nvSpPr>
          <p:cNvPr id="95" name="Google Shape;95;p6"/>
          <p:cNvSpPr/>
          <p:nvPr/>
        </p:nvSpPr>
        <p:spPr>
          <a:xfrm>
            <a:off x="4048125" y="1695450"/>
            <a:ext cx="18097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25">
                <a:solidFill>
                  <a:srgbClr val="8EC5EA"/>
                </a:solidFill>
                <a:latin typeface="Arial"/>
                <a:ea typeface="Arial"/>
                <a:cs typeface="Arial"/>
                <a:sym typeface="Arial"/>
              </a:rPr>
              <a:t>ROLE</a:t>
            </a:r>
            <a:endParaRPr sz="2700"/>
          </a:p>
        </p:txBody>
      </p:sp>
      <p:sp>
        <p:nvSpPr>
          <p:cNvPr id="96" name="Google Shape;96;p6"/>
          <p:cNvSpPr/>
          <p:nvPr/>
        </p:nvSpPr>
        <p:spPr>
          <a:xfrm>
            <a:off x="6715125" y="1695450"/>
            <a:ext cx="3143250" cy="171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25">
                <a:solidFill>
                  <a:srgbClr val="8EC5EA"/>
                </a:solidFill>
                <a:latin typeface="Arial"/>
                <a:ea typeface="Arial"/>
                <a:cs typeface="Arial"/>
                <a:sym typeface="Arial"/>
              </a:rPr>
              <a:t>WHY IT MATTERS</a:t>
            </a:r>
            <a:endParaRPr sz="2700"/>
          </a:p>
        </p:txBody>
      </p:sp>
      <p:sp>
        <p:nvSpPr>
          <p:cNvPr id="97" name="Google Shape;97;p6"/>
          <p:cNvSpPr/>
          <p:nvPr/>
        </p:nvSpPr>
        <p:spPr>
          <a:xfrm>
            <a:off x="838200" y="2095500"/>
            <a:ext cx="76200" cy="47625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1143000" y="2162175"/>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3F7FB"/>
                </a:solidFill>
                <a:latin typeface="Arial"/>
                <a:ea typeface="Arial"/>
                <a:cs typeface="Arial"/>
                <a:sym typeface="Arial"/>
              </a:rPr>
              <a:t>NOAA GHCN-hourly</a:t>
            </a:r>
            <a:endParaRPr sz="2100"/>
          </a:p>
        </p:txBody>
      </p:sp>
      <p:sp>
        <p:nvSpPr>
          <p:cNvPr id="99" name="Google Shape;99;p6"/>
          <p:cNvSpPr/>
          <p:nvPr/>
        </p:nvSpPr>
        <p:spPr>
          <a:xfrm>
            <a:off x="4048125" y="2171700"/>
            <a:ext cx="190500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F3F7FB"/>
                </a:solidFill>
                <a:latin typeface="Arial"/>
                <a:ea typeface="Arial"/>
                <a:cs typeface="Arial"/>
                <a:sym typeface="Arial"/>
              </a:rPr>
              <a:t>Primary RDU target</a:t>
            </a:r>
            <a:endParaRPr sz="2100"/>
          </a:p>
        </p:txBody>
      </p:sp>
      <p:sp>
        <p:nvSpPr>
          <p:cNvPr id="100" name="Google Shape;100;p6"/>
          <p:cNvSpPr/>
          <p:nvPr/>
        </p:nvSpPr>
        <p:spPr>
          <a:xfrm>
            <a:off x="6715125" y="2171700"/>
            <a:ext cx="37147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AEC4D6"/>
                </a:solidFill>
                <a:latin typeface="Arial"/>
                <a:ea typeface="Arial"/>
                <a:cs typeface="Arial"/>
                <a:sym typeface="Arial"/>
              </a:rPr>
              <a:t>Airport observations and quality codes</a:t>
            </a:r>
            <a:endParaRPr sz="2100"/>
          </a:p>
        </p:txBody>
      </p:sp>
      <p:cxnSp>
        <p:nvCxnSpPr>
          <p:cNvPr id="101" name="Google Shape;101;p6"/>
          <p:cNvCxnSpPr/>
          <p:nvPr/>
        </p:nvCxnSpPr>
        <p:spPr>
          <a:xfrm>
            <a:off x="1143000" y="2686050"/>
            <a:ext cx="9286875" cy="0"/>
          </a:xfrm>
          <a:prstGeom prst="straightConnector1">
            <a:avLst/>
          </a:prstGeom>
          <a:noFill/>
          <a:ln cap="flat" cmpd="sng" w="9525">
            <a:solidFill>
              <a:srgbClr val="244866"/>
            </a:solidFill>
            <a:prstDash val="solid"/>
            <a:round/>
            <a:headEnd len="sm" w="sm" type="none"/>
            <a:tailEnd len="sm" w="sm" type="none"/>
          </a:ln>
        </p:spPr>
      </p:cxnSp>
      <p:sp>
        <p:nvSpPr>
          <p:cNvPr id="102" name="Google Shape;102;p6"/>
          <p:cNvSpPr/>
          <p:nvPr/>
        </p:nvSpPr>
        <p:spPr>
          <a:xfrm>
            <a:off x="838200" y="2838450"/>
            <a:ext cx="76200" cy="476250"/>
          </a:xfrm>
          <a:prstGeom prst="rect">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1143000" y="2905125"/>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3F7FB"/>
                </a:solidFill>
                <a:latin typeface="Arial"/>
                <a:ea typeface="Arial"/>
                <a:cs typeface="Arial"/>
                <a:sym typeface="Arial"/>
              </a:rPr>
              <a:t>IEM ASOS</a:t>
            </a:r>
            <a:endParaRPr sz="2100"/>
          </a:p>
        </p:txBody>
      </p:sp>
      <p:sp>
        <p:nvSpPr>
          <p:cNvPr id="104" name="Google Shape;104;p6"/>
          <p:cNvSpPr/>
          <p:nvPr/>
        </p:nvSpPr>
        <p:spPr>
          <a:xfrm>
            <a:off x="4048125" y="2914650"/>
            <a:ext cx="190500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F3F7FB"/>
                </a:solidFill>
                <a:latin typeface="Arial"/>
                <a:ea typeface="Arial"/>
                <a:cs typeface="Arial"/>
                <a:sym typeface="Arial"/>
              </a:rPr>
              <a:t>Target backup</a:t>
            </a:r>
            <a:endParaRPr sz="2100"/>
          </a:p>
        </p:txBody>
      </p:sp>
      <p:sp>
        <p:nvSpPr>
          <p:cNvPr id="105" name="Google Shape;105;p6"/>
          <p:cNvSpPr/>
          <p:nvPr/>
        </p:nvSpPr>
        <p:spPr>
          <a:xfrm>
            <a:off x="6715125" y="2914650"/>
            <a:ext cx="37147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AEC4D6"/>
                </a:solidFill>
                <a:latin typeface="Arial"/>
                <a:ea typeface="Arial"/>
                <a:cs typeface="Arial"/>
                <a:sym typeface="Arial"/>
              </a:rPr>
              <a:t>Fills missing airport observations</a:t>
            </a:r>
            <a:endParaRPr sz="2100"/>
          </a:p>
        </p:txBody>
      </p:sp>
      <p:cxnSp>
        <p:nvCxnSpPr>
          <p:cNvPr id="106" name="Google Shape;106;p6"/>
          <p:cNvCxnSpPr/>
          <p:nvPr/>
        </p:nvCxnSpPr>
        <p:spPr>
          <a:xfrm>
            <a:off x="1143000" y="3429000"/>
            <a:ext cx="9286875" cy="0"/>
          </a:xfrm>
          <a:prstGeom prst="straightConnector1">
            <a:avLst/>
          </a:prstGeom>
          <a:noFill/>
          <a:ln cap="flat" cmpd="sng" w="9525">
            <a:solidFill>
              <a:srgbClr val="244866"/>
            </a:solidFill>
            <a:prstDash val="solid"/>
            <a:round/>
            <a:headEnd len="sm" w="sm" type="none"/>
            <a:tailEnd len="sm" w="sm" type="none"/>
          </a:ln>
        </p:spPr>
      </p:cxnSp>
      <p:sp>
        <p:nvSpPr>
          <p:cNvPr id="107" name="Google Shape;107;p6"/>
          <p:cNvSpPr/>
          <p:nvPr/>
        </p:nvSpPr>
        <p:spPr>
          <a:xfrm>
            <a:off x="838200" y="3581400"/>
            <a:ext cx="76200" cy="47625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1143000" y="3648075"/>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3F7FB"/>
                </a:solidFill>
                <a:latin typeface="Arial"/>
                <a:ea typeface="Arial"/>
                <a:cs typeface="Arial"/>
                <a:sym typeface="Arial"/>
              </a:rPr>
              <a:t>ECONet + ERA5</a:t>
            </a:r>
            <a:endParaRPr sz="2100"/>
          </a:p>
        </p:txBody>
      </p:sp>
      <p:sp>
        <p:nvSpPr>
          <p:cNvPr id="109" name="Google Shape;109;p6"/>
          <p:cNvSpPr/>
          <p:nvPr/>
        </p:nvSpPr>
        <p:spPr>
          <a:xfrm>
            <a:off x="4048125" y="3657600"/>
            <a:ext cx="1905000" cy="219075"/>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500">
                <a:solidFill>
                  <a:srgbClr val="F3F7FB"/>
                </a:solidFill>
              </a:rPr>
              <a:t>Shared history</a:t>
            </a:r>
            <a:endParaRPr sz="1500">
              <a:solidFill>
                <a:srgbClr val="F3F7FB"/>
              </a:solidFill>
            </a:endParaRPr>
          </a:p>
          <a:p>
            <a:pPr indent="0" lvl="0" marL="0" marR="0" rtl="0" algn="l">
              <a:spcBef>
                <a:spcPts val="0"/>
              </a:spcBef>
              <a:spcAft>
                <a:spcPts val="0"/>
              </a:spcAft>
              <a:buNone/>
            </a:pPr>
            <a:r>
              <a:t/>
            </a:r>
            <a:endParaRPr sz="2238">
              <a:solidFill>
                <a:srgbClr val="F3F7FB"/>
              </a:solidFill>
            </a:endParaRPr>
          </a:p>
        </p:txBody>
      </p:sp>
      <p:sp>
        <p:nvSpPr>
          <p:cNvPr id="110" name="Google Shape;110;p6"/>
          <p:cNvSpPr/>
          <p:nvPr/>
        </p:nvSpPr>
        <p:spPr>
          <a:xfrm>
            <a:off x="6715125" y="3657600"/>
            <a:ext cx="37147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AEC4D6"/>
                </a:solidFill>
                <a:latin typeface="Arial"/>
                <a:ea typeface="Arial"/>
                <a:cs typeface="Arial"/>
                <a:sym typeface="Arial"/>
              </a:rPr>
              <a:t>Nearby stations and gridded history</a:t>
            </a:r>
            <a:endParaRPr sz="2100"/>
          </a:p>
        </p:txBody>
      </p:sp>
      <p:cxnSp>
        <p:nvCxnSpPr>
          <p:cNvPr id="111" name="Google Shape;111;p6"/>
          <p:cNvCxnSpPr/>
          <p:nvPr/>
        </p:nvCxnSpPr>
        <p:spPr>
          <a:xfrm>
            <a:off x="1143000" y="4171950"/>
            <a:ext cx="9286875" cy="0"/>
          </a:xfrm>
          <a:prstGeom prst="straightConnector1">
            <a:avLst/>
          </a:prstGeom>
          <a:noFill/>
          <a:ln cap="flat" cmpd="sng" w="9525">
            <a:solidFill>
              <a:srgbClr val="244866"/>
            </a:solidFill>
            <a:prstDash val="solid"/>
            <a:round/>
            <a:headEnd len="sm" w="sm" type="none"/>
            <a:tailEnd len="sm" w="sm" type="none"/>
          </a:ln>
        </p:spPr>
      </p:cxnSp>
      <p:sp>
        <p:nvSpPr>
          <p:cNvPr id="112" name="Google Shape;112;p6"/>
          <p:cNvSpPr/>
          <p:nvPr/>
        </p:nvSpPr>
        <p:spPr>
          <a:xfrm>
            <a:off x="838200" y="4324350"/>
            <a:ext cx="76200" cy="476250"/>
          </a:xfrm>
          <a:prstGeom prst="rect">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1143000" y="4391025"/>
            <a:ext cx="2381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3F7FB"/>
                </a:solidFill>
                <a:latin typeface="Arial"/>
                <a:ea typeface="Arial"/>
                <a:cs typeface="Arial"/>
                <a:sym typeface="Arial"/>
              </a:rPr>
              <a:t>NOAA GFS</a:t>
            </a:r>
            <a:endParaRPr sz="2100"/>
          </a:p>
        </p:txBody>
      </p:sp>
      <p:sp>
        <p:nvSpPr>
          <p:cNvPr id="114" name="Google Shape;114;p6"/>
          <p:cNvSpPr/>
          <p:nvPr/>
        </p:nvSpPr>
        <p:spPr>
          <a:xfrm>
            <a:off x="4048125" y="4400550"/>
            <a:ext cx="190500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F3F7FB"/>
                </a:solidFill>
                <a:latin typeface="Arial"/>
                <a:ea typeface="Arial"/>
                <a:cs typeface="Arial"/>
                <a:sym typeface="Arial"/>
              </a:rPr>
              <a:t>Future covariates</a:t>
            </a:r>
            <a:endParaRPr sz="2100"/>
          </a:p>
        </p:txBody>
      </p:sp>
      <p:sp>
        <p:nvSpPr>
          <p:cNvPr id="115" name="Google Shape;115;p6"/>
          <p:cNvSpPr/>
          <p:nvPr/>
        </p:nvSpPr>
        <p:spPr>
          <a:xfrm>
            <a:off x="6715125" y="4400550"/>
            <a:ext cx="37147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38">
                <a:solidFill>
                  <a:srgbClr val="AEC4D6"/>
                </a:solidFill>
                <a:latin typeface="Arial"/>
                <a:ea typeface="Arial"/>
                <a:cs typeface="Arial"/>
                <a:sym typeface="Arial"/>
              </a:rPr>
              <a:t>Forecasts available before each cutoff</a:t>
            </a:r>
            <a:endParaRPr sz="2100"/>
          </a:p>
        </p:txBody>
      </p:sp>
      <p:cxnSp>
        <p:nvCxnSpPr>
          <p:cNvPr id="116" name="Google Shape;116;p6"/>
          <p:cNvCxnSpPr/>
          <p:nvPr/>
        </p:nvCxnSpPr>
        <p:spPr>
          <a:xfrm>
            <a:off x="1143000" y="4914900"/>
            <a:ext cx="9286875" cy="0"/>
          </a:xfrm>
          <a:prstGeom prst="straightConnector1">
            <a:avLst/>
          </a:prstGeom>
          <a:noFill/>
          <a:ln cap="flat" cmpd="sng" w="9525">
            <a:solidFill>
              <a:srgbClr val="244866"/>
            </a:solidFill>
            <a:prstDash val="solid"/>
            <a:round/>
            <a:headEnd len="sm" w="sm" type="none"/>
            <a:tailEnd len="sm" w="sm" type="none"/>
          </a:ln>
        </p:spPr>
      </p:cxnSp>
      <p:sp>
        <p:nvSpPr>
          <p:cNvPr id="117" name="Google Shape;117;p6"/>
          <p:cNvSpPr/>
          <p:nvPr/>
        </p:nvSpPr>
        <p:spPr>
          <a:xfrm>
            <a:off x="838200" y="5429250"/>
            <a:ext cx="9771300" cy="595800"/>
          </a:xfrm>
          <a:prstGeom prst="rect">
            <a:avLst/>
          </a:prstGeom>
          <a:solidFill>
            <a:srgbClr val="0C2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1095375" y="5591175"/>
            <a:ext cx="9191625"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38">
                <a:solidFill>
                  <a:srgbClr val="AEC4D6"/>
                </a:solidFill>
                <a:latin typeface="Arial"/>
                <a:ea typeface="Arial"/>
                <a:cs typeface="Arial"/>
                <a:sym typeface="Arial"/>
              </a:rPr>
              <a:t>Final target: NOAA GHCN-hourly, with IEM ASOS filling 151 missing hours. Where both report, they agree within 0.028 °C.</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123" name="Shape 123"/>
        <p:cNvGrpSpPr/>
        <p:nvPr/>
      </p:nvGrpSpPr>
      <p:grpSpPr>
        <a:xfrm>
          <a:off x="0" y="0"/>
          <a:ext cx="0" cy="0"/>
          <a:chOff x="0" y="0"/>
          <a:chExt cx="0" cy="0"/>
        </a:xfrm>
      </p:grpSpPr>
      <p:sp>
        <p:nvSpPr>
          <p:cNvPr id="124" name="Google Shape;124;p7"/>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Archived GFS keeps future features legal</a:t>
            </a:r>
            <a:endParaRPr/>
          </a:p>
        </p:txBody>
      </p:sp>
      <p:sp>
        <p:nvSpPr>
          <p:cNvPr id="127" name="Google Shape;127;p7"/>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129" name="Google Shape;129;p7"/>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05</a:t>
            </a:r>
            <a:endParaRPr/>
          </a:p>
        </p:txBody>
      </p:sp>
      <p:sp>
        <p:nvSpPr>
          <p:cNvPr id="130" name="Google Shape;130;p7"/>
          <p:cNvSpPr/>
          <p:nvPr/>
        </p:nvSpPr>
        <p:spPr>
          <a:xfrm>
            <a:off x="895350" y="1857375"/>
            <a:ext cx="30963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166">
                <a:solidFill>
                  <a:srgbClr val="8EC5EA"/>
                </a:solidFill>
                <a:latin typeface="Arial"/>
                <a:ea typeface="Arial"/>
                <a:cs typeface="Arial"/>
                <a:sym typeface="Arial"/>
              </a:rPr>
              <a:t>WHAT OBSERVATIONS CANNOT DO</a:t>
            </a:r>
            <a:endParaRPr sz="2000"/>
          </a:p>
        </p:txBody>
      </p:sp>
      <p:sp>
        <p:nvSpPr>
          <p:cNvPr id="131" name="Google Shape;131;p7"/>
          <p:cNvSpPr/>
          <p:nvPr/>
        </p:nvSpPr>
        <p:spPr>
          <a:xfrm>
            <a:off x="895350" y="2228850"/>
            <a:ext cx="3381375"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75">
                <a:solidFill>
                  <a:srgbClr val="F3F7FB"/>
                </a:solidFill>
                <a:latin typeface="Arial"/>
                <a:ea typeface="Arial"/>
                <a:cs typeface="Arial"/>
                <a:sym typeface="Arial"/>
              </a:rPr>
              <a:t>Observed weather</a:t>
            </a:r>
            <a:endParaRPr/>
          </a:p>
          <a:p>
            <a:pPr indent="0" lvl="0" marL="0" marR="0" rtl="0" algn="l">
              <a:spcBef>
                <a:spcPts val="0"/>
              </a:spcBef>
              <a:spcAft>
                <a:spcPts val="0"/>
              </a:spcAft>
              <a:buNone/>
            </a:pPr>
            <a:r>
              <a:rPr b="1" lang="en-US" sz="2075">
                <a:solidFill>
                  <a:srgbClr val="F3F7FB"/>
                </a:solidFill>
                <a:latin typeface="Arial"/>
                <a:ea typeface="Arial"/>
                <a:cs typeface="Arial"/>
                <a:sym typeface="Arial"/>
              </a:rPr>
              <a:t>arrives after the hour.</a:t>
            </a:r>
            <a:endParaRPr/>
          </a:p>
        </p:txBody>
      </p:sp>
      <p:sp>
        <p:nvSpPr>
          <p:cNvPr id="132" name="Google Shape;132;p7"/>
          <p:cNvSpPr/>
          <p:nvPr/>
        </p:nvSpPr>
        <p:spPr>
          <a:xfrm>
            <a:off x="895350" y="3190875"/>
            <a:ext cx="3429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Useful for targets and historical training.</a:t>
            </a:r>
            <a:endParaRPr sz="1600"/>
          </a:p>
        </p:txBody>
      </p:sp>
      <p:cxnSp>
        <p:nvCxnSpPr>
          <p:cNvPr id="133" name="Google Shape;133;p7"/>
          <p:cNvCxnSpPr/>
          <p:nvPr/>
        </p:nvCxnSpPr>
        <p:spPr>
          <a:xfrm>
            <a:off x="4857750" y="2171700"/>
            <a:ext cx="0" cy="2381250"/>
          </a:xfrm>
          <a:prstGeom prst="straightConnector1">
            <a:avLst/>
          </a:prstGeom>
          <a:noFill/>
          <a:ln cap="flat" cmpd="sng" w="19050">
            <a:solidFill>
              <a:srgbClr val="244866"/>
            </a:solidFill>
            <a:prstDash val="solid"/>
            <a:round/>
            <a:headEnd len="sm" w="sm" type="none"/>
            <a:tailEnd len="sm" w="sm" type="none"/>
          </a:ln>
        </p:spPr>
      </p:cxnSp>
      <p:sp>
        <p:nvSpPr>
          <p:cNvPr id="134" name="Google Shape;134;p7"/>
          <p:cNvSpPr/>
          <p:nvPr/>
        </p:nvSpPr>
        <p:spPr>
          <a:xfrm>
            <a:off x="5734050" y="1857375"/>
            <a:ext cx="1784100" cy="20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WHAT GFS ADDS</a:t>
            </a:r>
            <a:endParaRPr sz="2000"/>
          </a:p>
        </p:txBody>
      </p:sp>
      <p:sp>
        <p:nvSpPr>
          <p:cNvPr id="135" name="Google Shape;135;p7"/>
          <p:cNvSpPr/>
          <p:nvPr/>
        </p:nvSpPr>
        <p:spPr>
          <a:xfrm>
            <a:off x="5734050" y="2228850"/>
            <a:ext cx="3714750"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75">
                <a:solidFill>
                  <a:srgbClr val="8EC5EA"/>
                </a:solidFill>
                <a:latin typeface="Arial"/>
                <a:ea typeface="Arial"/>
                <a:cs typeface="Arial"/>
                <a:sym typeface="Arial"/>
              </a:rPr>
              <a:t>Forecast weather</a:t>
            </a:r>
            <a:endParaRPr/>
          </a:p>
          <a:p>
            <a:pPr indent="0" lvl="0" marL="0" marR="0" rtl="0" algn="l">
              <a:spcBef>
                <a:spcPts val="0"/>
              </a:spcBef>
              <a:spcAft>
                <a:spcPts val="0"/>
              </a:spcAft>
              <a:buNone/>
            </a:pPr>
            <a:r>
              <a:rPr b="1" lang="en-US" sz="2075">
                <a:solidFill>
                  <a:srgbClr val="8EC5EA"/>
                </a:solidFill>
                <a:latin typeface="Arial"/>
                <a:ea typeface="Arial"/>
                <a:cs typeface="Arial"/>
                <a:sym typeface="Arial"/>
              </a:rPr>
              <a:t>exists before the hour.</a:t>
            </a:r>
            <a:endParaRPr/>
          </a:p>
        </p:txBody>
      </p:sp>
      <p:sp>
        <p:nvSpPr>
          <p:cNvPr id="136" name="Google Shape;136;p7"/>
          <p:cNvSpPr/>
          <p:nvPr/>
        </p:nvSpPr>
        <p:spPr>
          <a:xfrm>
            <a:off x="5734050" y="3190875"/>
            <a:ext cx="37147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Usable as a future covariate.</a:t>
            </a:r>
            <a:endParaRPr sz="1600"/>
          </a:p>
        </p:txBody>
      </p:sp>
      <p:sp>
        <p:nvSpPr>
          <p:cNvPr id="137" name="Google Shape;137;p7"/>
          <p:cNvSpPr/>
          <p:nvPr/>
        </p:nvSpPr>
        <p:spPr>
          <a:xfrm>
            <a:off x="895350" y="4362450"/>
            <a:ext cx="9620250" cy="9906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1181100" y="4591050"/>
            <a:ext cx="35242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3">
                <a:solidFill>
                  <a:srgbClr val="0B2943"/>
                </a:solidFill>
                <a:latin typeface="Arial"/>
                <a:ea typeface="Arial"/>
                <a:cs typeface="Arial"/>
                <a:sym typeface="Arial"/>
              </a:rPr>
              <a:t>Matched lead time for every fold</a:t>
            </a:r>
            <a:endParaRPr sz="1800"/>
          </a:p>
        </p:txBody>
      </p:sp>
      <p:sp>
        <p:nvSpPr>
          <p:cNvPr id="139" name="Google Shape;139;p7"/>
          <p:cNvSpPr/>
          <p:nvPr/>
        </p:nvSpPr>
        <p:spPr>
          <a:xfrm>
            <a:off x="1181100" y="4953000"/>
            <a:ext cx="90489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00">
                <a:solidFill>
                  <a:srgbClr val="0B2943"/>
                </a:solidFill>
                <a:latin typeface="Arial"/>
                <a:ea typeface="Arial"/>
                <a:cs typeface="Arial"/>
                <a:sym typeface="Arial"/>
              </a:rPr>
              <a:t>We select the GFS run issued the same number of hours before each historical cutoff as the final forecast run.</a:t>
            </a:r>
            <a:endParaRPr sz="1900"/>
          </a:p>
        </p:txBody>
      </p:sp>
      <p:sp>
        <p:nvSpPr>
          <p:cNvPr id="140" name="Google Shape;140;p7"/>
          <p:cNvSpPr/>
          <p:nvPr/>
        </p:nvSpPr>
        <p:spPr>
          <a:xfrm>
            <a:off x="914400" y="5695950"/>
            <a:ext cx="90487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75">
                <a:solidFill>
                  <a:srgbClr val="AEC4D6"/>
                </a:solidFill>
                <a:latin typeface="Arial"/>
                <a:ea typeface="Arial"/>
                <a:cs typeface="Arial"/>
                <a:sym typeface="Arial"/>
              </a:rPr>
              <a:t>Native hourly GFS to 120 h · 3-hourly afterward · interpolation flag retained</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145" name="Shape 145"/>
        <p:cNvGrpSpPr/>
        <p:nvPr/>
      </p:nvGrpSpPr>
      <p:grpSpPr>
        <a:xfrm>
          <a:off x="0" y="0"/>
          <a:ext cx="0" cy="0"/>
          <a:chOff x="0" y="0"/>
          <a:chExt cx="0" cy="0"/>
        </a:xfrm>
      </p:grpSpPr>
      <p:sp>
        <p:nvSpPr>
          <p:cNvPr id="146" name="Google Shape;146;p8"/>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Three models, different assumptions</a:t>
            </a:r>
            <a:endParaRPr/>
          </a:p>
        </p:txBody>
      </p:sp>
      <p:sp>
        <p:nvSpPr>
          <p:cNvPr id="149" name="Google Shape;149;p8"/>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151" name="Google Shape;151;p8"/>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06</a:t>
            </a:r>
            <a:endParaRPr/>
          </a:p>
        </p:txBody>
      </p:sp>
      <p:sp>
        <p:nvSpPr>
          <p:cNvPr id="152" name="Google Shape;152;p8"/>
          <p:cNvSpPr/>
          <p:nvPr/>
        </p:nvSpPr>
        <p:spPr>
          <a:xfrm>
            <a:off x="895350" y="177165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50">
                <a:solidFill>
                  <a:srgbClr val="F2A24B"/>
                </a:solidFill>
                <a:latin typeface="Arial"/>
                <a:ea typeface="Arial"/>
                <a:cs typeface="Arial"/>
                <a:sym typeface="Arial"/>
              </a:rPr>
              <a:t>01</a:t>
            </a:r>
            <a:endParaRPr sz="1700">
              <a:solidFill>
                <a:srgbClr val="F2A24B"/>
              </a:solidFill>
            </a:endParaRPr>
          </a:p>
        </p:txBody>
      </p:sp>
      <p:sp>
        <p:nvSpPr>
          <p:cNvPr id="153" name="Google Shape;153;p8"/>
          <p:cNvSpPr/>
          <p:nvPr/>
        </p:nvSpPr>
        <p:spPr>
          <a:xfrm>
            <a:off x="1733550" y="1771650"/>
            <a:ext cx="2952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F3F7FB"/>
                </a:solidFill>
                <a:latin typeface="Arial"/>
                <a:ea typeface="Arial"/>
                <a:cs typeface="Arial"/>
                <a:sym typeface="Arial"/>
              </a:rPr>
              <a:t>Linear regression</a:t>
            </a:r>
            <a:endParaRPr sz="1800"/>
          </a:p>
        </p:txBody>
      </p:sp>
      <p:sp>
        <p:nvSpPr>
          <p:cNvPr id="154" name="Google Shape;154;p8"/>
          <p:cNvSpPr/>
          <p:nvPr/>
        </p:nvSpPr>
        <p:spPr>
          <a:xfrm>
            <a:off x="5143500" y="1800225"/>
            <a:ext cx="20002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38">
                <a:solidFill>
                  <a:srgbClr val="8EC5EA"/>
                </a:solidFill>
                <a:latin typeface="Arial"/>
                <a:ea typeface="Arial"/>
                <a:cs typeface="Arial"/>
                <a:sym typeface="Arial"/>
              </a:rPr>
              <a:t>Interpretability</a:t>
            </a:r>
            <a:endParaRPr sz="1800"/>
          </a:p>
        </p:txBody>
      </p:sp>
      <p:sp>
        <p:nvSpPr>
          <p:cNvPr id="155" name="Google Shape;155;p8"/>
          <p:cNvSpPr/>
          <p:nvPr/>
        </p:nvSpPr>
        <p:spPr>
          <a:xfrm>
            <a:off x="7524750" y="1790700"/>
            <a:ext cx="3238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30">
                <a:solidFill>
                  <a:srgbClr val="AEC4D6"/>
                </a:solidFill>
                <a:latin typeface="Arial"/>
                <a:ea typeface="Arial"/>
                <a:cs typeface="Arial"/>
                <a:sym typeface="Arial"/>
              </a:rPr>
              <a:t>Calendar cycles + GFS temperature + lead time</a:t>
            </a:r>
            <a:endParaRPr sz="1600"/>
          </a:p>
        </p:txBody>
      </p:sp>
      <p:cxnSp>
        <p:nvCxnSpPr>
          <p:cNvPr id="156" name="Google Shape;156;p8"/>
          <p:cNvCxnSpPr/>
          <p:nvPr/>
        </p:nvCxnSpPr>
        <p:spPr>
          <a:xfrm>
            <a:off x="1733550" y="2438400"/>
            <a:ext cx="9001125" cy="0"/>
          </a:xfrm>
          <a:prstGeom prst="straightConnector1">
            <a:avLst/>
          </a:prstGeom>
          <a:noFill/>
          <a:ln cap="flat" cmpd="sng" w="9525">
            <a:solidFill>
              <a:srgbClr val="244866"/>
            </a:solidFill>
            <a:prstDash val="solid"/>
            <a:round/>
            <a:headEnd len="sm" w="sm" type="none"/>
            <a:tailEnd len="sm" w="sm" type="none"/>
          </a:ln>
        </p:spPr>
      </p:cxnSp>
      <p:sp>
        <p:nvSpPr>
          <p:cNvPr id="157" name="Google Shape;157;p8"/>
          <p:cNvSpPr/>
          <p:nvPr/>
        </p:nvSpPr>
        <p:spPr>
          <a:xfrm>
            <a:off x="895350" y="29337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50">
                <a:solidFill>
                  <a:srgbClr val="8EC5EA"/>
                </a:solidFill>
                <a:latin typeface="Arial"/>
                <a:ea typeface="Arial"/>
                <a:cs typeface="Arial"/>
                <a:sym typeface="Arial"/>
              </a:rPr>
              <a:t>02</a:t>
            </a:r>
            <a:endParaRPr sz="1800"/>
          </a:p>
        </p:txBody>
      </p:sp>
      <p:sp>
        <p:nvSpPr>
          <p:cNvPr id="158" name="Google Shape;158;p8"/>
          <p:cNvSpPr/>
          <p:nvPr/>
        </p:nvSpPr>
        <p:spPr>
          <a:xfrm>
            <a:off x="1733550" y="2933700"/>
            <a:ext cx="2952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F3F7FB"/>
                </a:solidFill>
                <a:latin typeface="Arial"/>
                <a:ea typeface="Arial"/>
                <a:cs typeface="Arial"/>
                <a:sym typeface="Arial"/>
              </a:rPr>
              <a:t>Prophet + GFS</a:t>
            </a:r>
            <a:endParaRPr sz="1800"/>
          </a:p>
        </p:txBody>
      </p:sp>
      <p:sp>
        <p:nvSpPr>
          <p:cNvPr id="159" name="Google Shape;159;p8"/>
          <p:cNvSpPr/>
          <p:nvPr/>
        </p:nvSpPr>
        <p:spPr>
          <a:xfrm>
            <a:off x="5143500" y="2962275"/>
            <a:ext cx="20002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38">
                <a:solidFill>
                  <a:srgbClr val="8EC5EA"/>
                </a:solidFill>
                <a:latin typeface="Arial"/>
                <a:ea typeface="Arial"/>
                <a:cs typeface="Arial"/>
                <a:sym typeface="Arial"/>
              </a:rPr>
              <a:t>Additive correction</a:t>
            </a:r>
            <a:endParaRPr sz="1800"/>
          </a:p>
        </p:txBody>
      </p:sp>
      <p:sp>
        <p:nvSpPr>
          <p:cNvPr id="160" name="Google Shape;160;p8"/>
          <p:cNvSpPr/>
          <p:nvPr/>
        </p:nvSpPr>
        <p:spPr>
          <a:xfrm>
            <a:off x="7524750" y="2952750"/>
            <a:ext cx="3238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26">
                <a:solidFill>
                  <a:srgbClr val="AEC4D6"/>
                </a:solidFill>
                <a:latin typeface="Arial"/>
                <a:ea typeface="Arial"/>
                <a:cs typeface="Arial"/>
                <a:sym typeface="Arial"/>
              </a:rPr>
              <a:t>GFS temperature as a forecast regressor</a:t>
            </a:r>
            <a:endParaRPr sz="1600"/>
          </a:p>
        </p:txBody>
      </p:sp>
      <p:cxnSp>
        <p:nvCxnSpPr>
          <p:cNvPr id="161" name="Google Shape;161;p8"/>
          <p:cNvCxnSpPr/>
          <p:nvPr/>
        </p:nvCxnSpPr>
        <p:spPr>
          <a:xfrm>
            <a:off x="1733550" y="3600450"/>
            <a:ext cx="9001125" cy="0"/>
          </a:xfrm>
          <a:prstGeom prst="straightConnector1">
            <a:avLst/>
          </a:prstGeom>
          <a:noFill/>
          <a:ln cap="flat" cmpd="sng" w="9525">
            <a:solidFill>
              <a:srgbClr val="244866"/>
            </a:solidFill>
            <a:prstDash val="solid"/>
            <a:round/>
            <a:headEnd len="sm" w="sm" type="none"/>
            <a:tailEnd len="sm" w="sm" type="none"/>
          </a:ln>
        </p:spPr>
      </p:cxnSp>
      <p:sp>
        <p:nvSpPr>
          <p:cNvPr id="162" name="Google Shape;162;p8"/>
          <p:cNvSpPr/>
          <p:nvPr/>
        </p:nvSpPr>
        <p:spPr>
          <a:xfrm>
            <a:off x="895350" y="409575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50">
                <a:solidFill>
                  <a:srgbClr val="F2A24B"/>
                </a:solidFill>
                <a:latin typeface="Arial"/>
                <a:ea typeface="Arial"/>
                <a:cs typeface="Arial"/>
                <a:sym typeface="Arial"/>
              </a:rPr>
              <a:t>03</a:t>
            </a:r>
            <a:endParaRPr sz="1800"/>
          </a:p>
        </p:txBody>
      </p:sp>
      <p:sp>
        <p:nvSpPr>
          <p:cNvPr id="163" name="Google Shape;163;p8"/>
          <p:cNvSpPr/>
          <p:nvPr/>
        </p:nvSpPr>
        <p:spPr>
          <a:xfrm>
            <a:off x="1733550" y="4095750"/>
            <a:ext cx="2952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F3F7FB"/>
                </a:solidFill>
                <a:latin typeface="Arial"/>
                <a:ea typeface="Arial"/>
                <a:cs typeface="Arial"/>
                <a:sym typeface="Arial"/>
              </a:rPr>
              <a:t>XGBoost residual</a:t>
            </a:r>
            <a:endParaRPr sz="1800"/>
          </a:p>
        </p:txBody>
      </p:sp>
      <p:sp>
        <p:nvSpPr>
          <p:cNvPr id="164" name="Google Shape;164;p8"/>
          <p:cNvSpPr/>
          <p:nvPr/>
        </p:nvSpPr>
        <p:spPr>
          <a:xfrm>
            <a:off x="5143500" y="4124325"/>
            <a:ext cx="200025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38">
                <a:solidFill>
                  <a:srgbClr val="8EC5EA"/>
                </a:solidFill>
                <a:latin typeface="Arial"/>
                <a:ea typeface="Arial"/>
                <a:cs typeface="Arial"/>
                <a:sym typeface="Arial"/>
              </a:rPr>
              <a:t>Nonlinear correction</a:t>
            </a:r>
            <a:endParaRPr sz="1800"/>
          </a:p>
        </p:txBody>
      </p:sp>
      <p:sp>
        <p:nvSpPr>
          <p:cNvPr id="165" name="Google Shape;165;p8"/>
          <p:cNvSpPr/>
          <p:nvPr/>
        </p:nvSpPr>
        <p:spPr>
          <a:xfrm>
            <a:off x="7524750" y="4114800"/>
            <a:ext cx="3238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50">
                <a:solidFill>
                  <a:srgbClr val="AEC4D6"/>
                </a:solidFill>
                <a:latin typeface="Arial"/>
                <a:ea typeface="Arial"/>
                <a:cs typeface="Arial"/>
                <a:sym typeface="Arial"/>
              </a:rPr>
              <a:t>Trees learn the error left by GFS</a:t>
            </a:r>
            <a:endParaRPr sz="1600"/>
          </a:p>
        </p:txBody>
      </p:sp>
      <p:sp>
        <p:nvSpPr>
          <p:cNvPr id="166" name="Google Shape;166;p8"/>
          <p:cNvSpPr/>
          <p:nvPr/>
        </p:nvSpPr>
        <p:spPr>
          <a:xfrm>
            <a:off x="857250" y="5543550"/>
            <a:ext cx="9737400" cy="579000"/>
          </a:xfrm>
          <a:prstGeom prst="rect">
            <a:avLst/>
          </a:prstGeom>
          <a:solidFill>
            <a:srgbClr val="0C29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066800" y="5657850"/>
            <a:ext cx="94584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13">
                <a:solidFill>
                  <a:srgbClr val="AEC4D6"/>
                </a:solidFill>
                <a:latin typeface="Arial"/>
                <a:ea typeface="Arial"/>
                <a:cs typeface="Arial"/>
                <a:sym typeface="Arial"/>
              </a:rPr>
              <a:t>All models predict the same outcome. Their differences reveal which assumptions help under the same forecast conditions.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172" name="Shape 172"/>
        <p:cNvGrpSpPr/>
        <p:nvPr/>
      </p:nvGrpSpPr>
      <p:grpSpPr>
        <a:xfrm>
          <a:off x="0" y="0"/>
          <a:ext cx="0" cy="0"/>
          <a:chOff x="0" y="0"/>
          <a:chExt cx="0" cy="0"/>
        </a:xfrm>
      </p:grpSpPr>
      <p:sp>
        <p:nvSpPr>
          <p:cNvPr id="173" name="Google Shape;173;p9"/>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Linear regression: interpretable correction</a:t>
            </a:r>
            <a:endParaRPr/>
          </a:p>
        </p:txBody>
      </p:sp>
      <p:sp>
        <p:nvSpPr>
          <p:cNvPr id="176" name="Google Shape;176;p9"/>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178" name="Google Shape;178;p9"/>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07</a:t>
            </a:r>
            <a:endParaRPr/>
          </a:p>
        </p:txBody>
      </p:sp>
      <p:sp>
        <p:nvSpPr>
          <p:cNvPr id="179" name="Google Shape;179;p9"/>
          <p:cNvSpPr/>
          <p:nvPr/>
        </p:nvSpPr>
        <p:spPr>
          <a:xfrm>
            <a:off x="895350" y="1752600"/>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MODEL FORM</a:t>
            </a:r>
            <a:endParaRPr sz="2000"/>
          </a:p>
        </p:txBody>
      </p:sp>
      <p:sp>
        <p:nvSpPr>
          <p:cNvPr id="180" name="Google Shape;180;p9"/>
          <p:cNvSpPr/>
          <p:nvPr/>
        </p:nvSpPr>
        <p:spPr>
          <a:xfrm>
            <a:off x="895350" y="2133600"/>
            <a:ext cx="4095750" cy="1809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75">
                <a:solidFill>
                  <a:srgbClr val="F3F7FB"/>
                </a:solidFill>
                <a:latin typeface="Arial"/>
                <a:ea typeface="Arial"/>
                <a:cs typeface="Arial"/>
                <a:sym typeface="Arial"/>
              </a:rPr>
              <a:t>Temperature</a:t>
            </a:r>
            <a:endParaRPr/>
          </a:p>
          <a:p>
            <a:pPr indent="0" lvl="0" marL="0" marR="0" rtl="0" algn="l">
              <a:spcBef>
                <a:spcPts val="0"/>
              </a:spcBef>
              <a:spcAft>
                <a:spcPts val="0"/>
              </a:spcAft>
              <a:buNone/>
            </a:pPr>
            <a:r>
              <a:rPr b="1" lang="en-US" sz="2775">
                <a:solidFill>
                  <a:srgbClr val="F3F7FB"/>
                </a:solidFill>
                <a:latin typeface="Arial"/>
                <a:ea typeface="Arial"/>
                <a:cs typeface="Arial"/>
                <a:sym typeface="Arial"/>
              </a:rPr>
              <a:t>= GFS temperature</a:t>
            </a:r>
            <a:endParaRPr/>
          </a:p>
          <a:p>
            <a:pPr indent="0" lvl="0" marL="0" marR="0" rtl="0" algn="l">
              <a:spcBef>
                <a:spcPts val="0"/>
              </a:spcBef>
              <a:spcAft>
                <a:spcPts val="0"/>
              </a:spcAft>
              <a:buNone/>
            </a:pPr>
            <a:r>
              <a:rPr b="1" lang="en-US" sz="2775">
                <a:solidFill>
                  <a:srgbClr val="F3F7FB"/>
                </a:solidFill>
                <a:latin typeface="Arial"/>
                <a:ea typeface="Arial"/>
                <a:cs typeface="Arial"/>
                <a:sym typeface="Arial"/>
              </a:rPr>
              <a:t>+ lead time</a:t>
            </a:r>
            <a:endParaRPr/>
          </a:p>
          <a:p>
            <a:pPr indent="0" lvl="0" marL="0" marR="0" rtl="0" algn="l">
              <a:spcBef>
                <a:spcPts val="0"/>
              </a:spcBef>
              <a:spcAft>
                <a:spcPts val="0"/>
              </a:spcAft>
              <a:buNone/>
            </a:pPr>
            <a:r>
              <a:rPr b="1" lang="en-US" sz="2775">
                <a:solidFill>
                  <a:srgbClr val="F3F7FB"/>
                </a:solidFill>
                <a:latin typeface="Arial"/>
                <a:ea typeface="Arial"/>
                <a:cs typeface="Arial"/>
                <a:sym typeface="Arial"/>
              </a:rPr>
              <a:t>+ calendar cycles</a:t>
            </a:r>
            <a:endParaRPr/>
          </a:p>
        </p:txBody>
      </p:sp>
      <p:cxnSp>
        <p:nvCxnSpPr>
          <p:cNvPr id="181" name="Google Shape;181;p9"/>
          <p:cNvCxnSpPr/>
          <p:nvPr/>
        </p:nvCxnSpPr>
        <p:spPr>
          <a:xfrm>
            <a:off x="5476875" y="1695450"/>
            <a:ext cx="0" cy="3162300"/>
          </a:xfrm>
          <a:prstGeom prst="straightConnector1">
            <a:avLst/>
          </a:prstGeom>
          <a:noFill/>
          <a:ln cap="flat" cmpd="sng" w="19050">
            <a:solidFill>
              <a:srgbClr val="244866"/>
            </a:solidFill>
            <a:prstDash val="solid"/>
            <a:round/>
            <a:headEnd len="sm" w="sm" type="none"/>
            <a:tailEnd len="sm" w="sm" type="none"/>
          </a:ln>
        </p:spPr>
      </p:cxnSp>
      <p:sp>
        <p:nvSpPr>
          <p:cNvPr id="182" name="Google Shape;182;p9"/>
          <p:cNvSpPr/>
          <p:nvPr/>
        </p:nvSpPr>
        <p:spPr>
          <a:xfrm>
            <a:off x="6191250" y="1752600"/>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150">
                <a:solidFill>
                  <a:srgbClr val="8EC5EA"/>
                </a:solidFill>
                <a:latin typeface="Arial"/>
                <a:ea typeface="Arial"/>
                <a:cs typeface="Arial"/>
                <a:sym typeface="Arial"/>
              </a:rPr>
              <a:t>FEATURES</a:t>
            </a:r>
            <a:endParaRPr sz="1900"/>
          </a:p>
        </p:txBody>
      </p:sp>
      <p:sp>
        <p:nvSpPr>
          <p:cNvPr id="183" name="Google Shape;183;p9"/>
          <p:cNvSpPr/>
          <p:nvPr/>
        </p:nvSpPr>
        <p:spPr>
          <a:xfrm>
            <a:off x="6191250" y="2143125"/>
            <a:ext cx="38100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AEC4D6"/>
                </a:solidFill>
                <a:latin typeface="Arial"/>
                <a:ea typeface="Arial"/>
                <a:cs typeface="Arial"/>
                <a:sym typeface="Arial"/>
              </a:rPr>
              <a:t>Daily Fourier terms</a:t>
            </a:r>
            <a:endParaRPr/>
          </a:p>
          <a:p>
            <a:pPr indent="0" lvl="0" marL="0" marR="0" rtl="0" algn="l">
              <a:spcBef>
                <a:spcPts val="0"/>
              </a:spcBef>
              <a:spcAft>
                <a:spcPts val="0"/>
              </a:spcAft>
              <a:buNone/>
            </a:pPr>
            <a:r>
              <a:rPr b="0" lang="en-US" sz="1650">
                <a:solidFill>
                  <a:srgbClr val="AEC4D6"/>
                </a:solidFill>
                <a:latin typeface="Arial"/>
                <a:ea typeface="Arial"/>
                <a:cs typeface="Arial"/>
                <a:sym typeface="Arial"/>
              </a:rPr>
              <a:t>Annual Fourier terms</a:t>
            </a:r>
            <a:endParaRPr/>
          </a:p>
          <a:p>
            <a:pPr indent="0" lvl="0" marL="0" marR="0" rtl="0" algn="l">
              <a:spcBef>
                <a:spcPts val="0"/>
              </a:spcBef>
              <a:spcAft>
                <a:spcPts val="0"/>
              </a:spcAft>
              <a:buNone/>
            </a:pPr>
            <a:r>
              <a:rPr b="0" lang="en-US" sz="1650">
                <a:solidFill>
                  <a:srgbClr val="AEC4D6"/>
                </a:solidFill>
                <a:latin typeface="Arial"/>
                <a:ea typeface="Arial"/>
                <a:cs typeface="Arial"/>
                <a:sym typeface="Arial"/>
              </a:rPr>
              <a:t>GFS temperature × lead time</a:t>
            </a:r>
            <a:endParaRPr/>
          </a:p>
          <a:p>
            <a:pPr indent="0" lvl="0" marL="0" marR="0" rtl="0" algn="l">
              <a:spcBef>
                <a:spcPts val="0"/>
              </a:spcBef>
              <a:spcAft>
                <a:spcPts val="0"/>
              </a:spcAft>
              <a:buNone/>
            </a:pPr>
            <a:r>
              <a:rPr b="0" lang="en-US" sz="1650">
                <a:solidFill>
                  <a:srgbClr val="AEC4D6"/>
                </a:solidFill>
                <a:latin typeface="Arial"/>
                <a:ea typeface="Arial"/>
                <a:cs typeface="Arial"/>
                <a:sym typeface="Arial"/>
              </a:rPr>
              <a:t>Lightweight residual adjustment</a:t>
            </a:r>
            <a:endParaRPr/>
          </a:p>
        </p:txBody>
      </p:sp>
      <p:sp>
        <p:nvSpPr>
          <p:cNvPr id="184" name="Google Shape;184;p9"/>
          <p:cNvSpPr/>
          <p:nvPr/>
        </p:nvSpPr>
        <p:spPr>
          <a:xfrm>
            <a:off x="6191250" y="3943350"/>
            <a:ext cx="3728100" cy="9144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6477000" y="4133850"/>
            <a:ext cx="3238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13">
                <a:solidFill>
                  <a:srgbClr val="0B2943"/>
                </a:solidFill>
                <a:latin typeface="Arial"/>
                <a:ea typeface="Arial"/>
                <a:cs typeface="Arial"/>
                <a:sym typeface="Arial"/>
              </a:rPr>
              <a:t>Transparent benchmark</a:t>
            </a:r>
            <a:endParaRPr sz="1800"/>
          </a:p>
          <a:p>
            <a:pPr indent="0" lvl="0" marL="0" marR="0" rtl="0" algn="l">
              <a:spcBef>
                <a:spcPts val="0"/>
              </a:spcBef>
              <a:spcAft>
                <a:spcPts val="0"/>
              </a:spcAft>
              <a:buNone/>
            </a:pPr>
            <a:r>
              <a:rPr b="1" lang="en-US" sz="1413">
                <a:solidFill>
                  <a:srgbClr val="0B2943"/>
                </a:solidFill>
                <a:latin typeface="Arial"/>
                <a:ea typeface="Arial"/>
                <a:cs typeface="Arial"/>
                <a:sym typeface="Arial"/>
              </a:rPr>
              <a:t>with inspectable coefficients</a:t>
            </a:r>
            <a:endParaRPr sz="1800"/>
          </a:p>
        </p:txBody>
      </p:sp>
      <p:sp>
        <p:nvSpPr>
          <p:cNvPr id="186" name="Google Shape;186;p9"/>
          <p:cNvSpPr/>
          <p:nvPr/>
        </p:nvSpPr>
        <p:spPr>
          <a:xfrm>
            <a:off x="895350" y="5638800"/>
            <a:ext cx="8572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75">
                <a:solidFill>
                  <a:srgbClr val="AEC4D6"/>
                </a:solidFill>
                <a:latin typeface="Arial"/>
                <a:ea typeface="Arial"/>
                <a:cs typeface="Arial"/>
                <a:sym typeface="Arial"/>
              </a:rPr>
              <a:t>Run  /  rdu_temperature.models.run_linear</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191" name="Shape 191"/>
        <p:cNvGrpSpPr/>
        <p:nvPr/>
      </p:nvGrpSpPr>
      <p:grpSpPr>
        <a:xfrm>
          <a:off x="0" y="0"/>
          <a:ext cx="0" cy="0"/>
          <a:chOff x="0" y="0"/>
          <a:chExt cx="0" cy="0"/>
        </a:xfrm>
      </p:grpSpPr>
      <p:sp>
        <p:nvSpPr>
          <p:cNvPr id="192" name="Google Shape;192;p10"/>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Prophet + GFS: additive forecast correction</a:t>
            </a:r>
            <a:endParaRPr/>
          </a:p>
        </p:txBody>
      </p:sp>
      <p:sp>
        <p:nvSpPr>
          <p:cNvPr id="195" name="Google Shape;195;p10"/>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197" name="Google Shape;197;p10"/>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08</a:t>
            </a:r>
            <a:endParaRPr/>
          </a:p>
        </p:txBody>
      </p:sp>
      <p:sp>
        <p:nvSpPr>
          <p:cNvPr id="198" name="Google Shape;198;p10"/>
          <p:cNvSpPr/>
          <p:nvPr/>
        </p:nvSpPr>
        <p:spPr>
          <a:xfrm>
            <a:off x="895350" y="1762125"/>
            <a:ext cx="1428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INPUTS</a:t>
            </a:r>
            <a:endParaRPr sz="2000"/>
          </a:p>
        </p:txBody>
      </p:sp>
      <p:sp>
        <p:nvSpPr>
          <p:cNvPr id="199" name="Google Shape;199;p10"/>
          <p:cNvSpPr/>
          <p:nvPr/>
        </p:nvSpPr>
        <p:spPr>
          <a:xfrm>
            <a:off x="895350" y="2190750"/>
            <a:ext cx="3857625" cy="1162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42">
                <a:solidFill>
                  <a:srgbClr val="F3F7FB"/>
                </a:solidFill>
                <a:latin typeface="Arial"/>
                <a:ea typeface="Arial"/>
                <a:cs typeface="Arial"/>
                <a:sym typeface="Arial"/>
              </a:rPr>
              <a:t>Time index</a:t>
            </a:r>
            <a:endParaRPr/>
          </a:p>
          <a:p>
            <a:pPr indent="0" lvl="0" marL="0" marR="0" rtl="0" algn="l">
              <a:spcBef>
                <a:spcPts val="0"/>
              </a:spcBef>
              <a:spcAft>
                <a:spcPts val="0"/>
              </a:spcAft>
              <a:buNone/>
            </a:pPr>
            <a:r>
              <a:rPr b="1" lang="en-US" sz="2342">
                <a:solidFill>
                  <a:srgbClr val="F3F7FB"/>
                </a:solidFill>
                <a:latin typeface="Arial"/>
                <a:ea typeface="Arial"/>
                <a:cs typeface="Arial"/>
                <a:sym typeface="Arial"/>
              </a:rPr>
              <a:t>+ GFS temperature</a:t>
            </a:r>
            <a:endParaRPr/>
          </a:p>
          <a:p>
            <a:pPr indent="0" lvl="0" marL="0" marR="0" rtl="0" algn="l">
              <a:spcBef>
                <a:spcPts val="0"/>
              </a:spcBef>
              <a:spcAft>
                <a:spcPts val="0"/>
              </a:spcAft>
              <a:buNone/>
            </a:pPr>
            <a:r>
              <a:rPr b="1" lang="en-US" sz="2342">
                <a:solidFill>
                  <a:srgbClr val="F3F7FB"/>
                </a:solidFill>
                <a:latin typeface="Arial"/>
                <a:ea typeface="Arial"/>
                <a:cs typeface="Arial"/>
                <a:sym typeface="Arial"/>
              </a:rPr>
              <a:t>as a regressor</a:t>
            </a:r>
            <a:endParaRPr/>
          </a:p>
        </p:txBody>
      </p:sp>
      <p:sp>
        <p:nvSpPr>
          <p:cNvPr id="200" name="Google Shape;200;p10"/>
          <p:cNvSpPr/>
          <p:nvPr/>
        </p:nvSpPr>
        <p:spPr>
          <a:xfrm>
            <a:off x="895350" y="3743325"/>
            <a:ext cx="3857700" cy="11619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1143000" y="3914775"/>
            <a:ext cx="3484800" cy="37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25">
                <a:solidFill>
                  <a:srgbClr val="0B2943"/>
                </a:solidFill>
                <a:latin typeface="Arial"/>
                <a:ea typeface="Arial"/>
                <a:cs typeface="Arial"/>
                <a:sym typeface="Arial"/>
              </a:rPr>
              <a:t>Prophet learns an additive correction</a:t>
            </a:r>
            <a:endParaRPr sz="2100"/>
          </a:p>
          <a:p>
            <a:pPr indent="0" lvl="0" marL="0" marR="0" rtl="0" algn="l">
              <a:spcBef>
                <a:spcPts val="0"/>
              </a:spcBef>
              <a:spcAft>
                <a:spcPts val="0"/>
              </a:spcAft>
              <a:buNone/>
            </a:pPr>
            <a:r>
              <a:rPr b="1" lang="en-US" sz="1525">
                <a:solidFill>
                  <a:srgbClr val="0B2943"/>
                </a:solidFill>
                <a:latin typeface="Arial"/>
                <a:ea typeface="Arial"/>
                <a:cs typeface="Arial"/>
                <a:sym typeface="Arial"/>
              </a:rPr>
              <a:t>to the forecast signal.</a:t>
            </a:r>
            <a:endParaRPr sz="2100"/>
          </a:p>
        </p:txBody>
      </p:sp>
      <p:cxnSp>
        <p:nvCxnSpPr>
          <p:cNvPr id="202" name="Google Shape;202;p10"/>
          <p:cNvCxnSpPr/>
          <p:nvPr/>
        </p:nvCxnSpPr>
        <p:spPr>
          <a:xfrm>
            <a:off x="5334000" y="1714500"/>
            <a:ext cx="0" cy="3143250"/>
          </a:xfrm>
          <a:prstGeom prst="straightConnector1">
            <a:avLst/>
          </a:prstGeom>
          <a:noFill/>
          <a:ln cap="flat" cmpd="sng" w="19050">
            <a:solidFill>
              <a:srgbClr val="244866"/>
            </a:solidFill>
            <a:prstDash val="solid"/>
            <a:round/>
            <a:headEnd len="sm" w="sm" type="none"/>
            <a:tailEnd len="sm" w="sm" type="none"/>
          </a:ln>
        </p:spPr>
      </p:cxnSp>
      <p:sp>
        <p:nvSpPr>
          <p:cNvPr id="203" name="Google Shape;203;p10"/>
          <p:cNvSpPr/>
          <p:nvPr/>
        </p:nvSpPr>
        <p:spPr>
          <a:xfrm>
            <a:off x="6096000" y="1762125"/>
            <a:ext cx="21537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TUNING CHOICE</a:t>
            </a:r>
            <a:endParaRPr sz="2000"/>
          </a:p>
        </p:txBody>
      </p:sp>
      <p:sp>
        <p:nvSpPr>
          <p:cNvPr id="204" name="Google Shape;204;p10"/>
          <p:cNvSpPr/>
          <p:nvPr/>
        </p:nvSpPr>
        <p:spPr>
          <a:xfrm>
            <a:off x="6096000" y="2190750"/>
            <a:ext cx="44767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88">
                <a:solidFill>
                  <a:srgbClr val="8EC5EA"/>
                </a:solidFill>
                <a:latin typeface="Arial"/>
                <a:ea typeface="Arial"/>
                <a:cs typeface="Arial"/>
                <a:sym typeface="Arial"/>
              </a:rPr>
              <a:t>Default trend and yearly</a:t>
            </a:r>
            <a:endParaRPr/>
          </a:p>
          <a:p>
            <a:pPr indent="0" lvl="0" marL="0" marR="0" rtl="0" algn="l">
              <a:spcBef>
                <a:spcPts val="0"/>
              </a:spcBef>
              <a:spcAft>
                <a:spcPts val="0"/>
              </a:spcAft>
              <a:buNone/>
            </a:pPr>
            <a:r>
              <a:rPr b="1" lang="en-US" sz="1888">
                <a:solidFill>
                  <a:srgbClr val="8EC5EA"/>
                </a:solidFill>
                <a:latin typeface="Arial"/>
                <a:ea typeface="Arial"/>
                <a:cs typeface="Arial"/>
                <a:sym typeface="Arial"/>
              </a:rPr>
              <a:t>seasonality turned off</a:t>
            </a:r>
            <a:endParaRPr/>
          </a:p>
        </p:txBody>
      </p:sp>
      <p:sp>
        <p:nvSpPr>
          <p:cNvPr id="205" name="Google Shape;205;p10"/>
          <p:cNvSpPr/>
          <p:nvPr/>
        </p:nvSpPr>
        <p:spPr>
          <a:xfrm>
            <a:off x="6096000" y="3209925"/>
            <a:ext cx="41910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8">
                <a:solidFill>
                  <a:srgbClr val="AEC4D6"/>
                </a:solidFill>
                <a:latin typeface="Arial"/>
                <a:ea typeface="Arial"/>
                <a:cs typeface="Arial"/>
                <a:sym typeface="Arial"/>
              </a:rPr>
              <a:t>The GFS archive is a sparse set of forecast runs, not a continuous time series. Default long-term seasonality created poorly matched extrapolation.</a:t>
            </a:r>
            <a:endParaRPr sz="1800"/>
          </a:p>
        </p:txBody>
      </p:sp>
      <p:sp>
        <p:nvSpPr>
          <p:cNvPr id="206" name="Google Shape;206;p10"/>
          <p:cNvSpPr/>
          <p:nvPr/>
        </p:nvSpPr>
        <p:spPr>
          <a:xfrm>
            <a:off x="895350" y="5638800"/>
            <a:ext cx="9334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75">
                <a:solidFill>
                  <a:srgbClr val="AEC4D6"/>
                </a:solidFill>
                <a:latin typeface="Arial"/>
                <a:ea typeface="Arial"/>
                <a:cs typeface="Arial"/>
                <a:sym typeface="Arial"/>
              </a:rPr>
              <a:t>Run  /  rdu_temperature.models.run_covariate_prophet</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211" name="Shape 211"/>
        <p:cNvGrpSpPr/>
        <p:nvPr/>
      </p:nvGrpSpPr>
      <p:grpSpPr>
        <a:xfrm>
          <a:off x="0" y="0"/>
          <a:ext cx="0" cy="0"/>
          <a:chOff x="0" y="0"/>
          <a:chExt cx="0" cy="0"/>
        </a:xfrm>
      </p:grpSpPr>
      <p:sp>
        <p:nvSpPr>
          <p:cNvPr id="212" name="Google Shape;212;p11"/>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XGBoost: nonlinear residual correction</a:t>
            </a:r>
            <a:endParaRPr/>
          </a:p>
        </p:txBody>
      </p:sp>
      <p:sp>
        <p:nvSpPr>
          <p:cNvPr id="215" name="Google Shape;215;p11"/>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217" name="Google Shape;217;p11"/>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09</a:t>
            </a:r>
            <a:endParaRPr/>
          </a:p>
        </p:txBody>
      </p:sp>
      <p:sp>
        <p:nvSpPr>
          <p:cNvPr id="218" name="Google Shape;218;p11"/>
          <p:cNvSpPr/>
          <p:nvPr/>
        </p:nvSpPr>
        <p:spPr>
          <a:xfrm>
            <a:off x="895350" y="2247900"/>
            <a:ext cx="2457450" cy="6858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1047750" y="2466975"/>
            <a:ext cx="21526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62">
                <a:solidFill>
                  <a:srgbClr val="0B2943"/>
                </a:solidFill>
                <a:latin typeface="Arial"/>
                <a:ea typeface="Arial"/>
                <a:cs typeface="Arial"/>
                <a:sym typeface="Arial"/>
              </a:rPr>
              <a:t>Raw GFS forecast</a:t>
            </a:r>
            <a:endParaRPr sz="1700"/>
          </a:p>
        </p:txBody>
      </p:sp>
      <p:cxnSp>
        <p:nvCxnSpPr>
          <p:cNvPr id="220" name="Google Shape;220;p11"/>
          <p:cNvCxnSpPr/>
          <p:nvPr/>
        </p:nvCxnSpPr>
        <p:spPr>
          <a:xfrm>
            <a:off x="3571875" y="2590800"/>
            <a:ext cx="685800" cy="0"/>
          </a:xfrm>
          <a:prstGeom prst="straightConnector1">
            <a:avLst/>
          </a:prstGeom>
          <a:noFill/>
          <a:ln cap="flat" cmpd="sng" w="28575">
            <a:solidFill>
              <a:srgbClr val="8EC5EA"/>
            </a:solidFill>
            <a:prstDash val="solid"/>
            <a:round/>
            <a:headEnd len="sm" w="sm" type="none"/>
            <a:tailEnd len="sm" w="sm" type="none"/>
          </a:ln>
        </p:spPr>
      </p:cxnSp>
      <p:sp>
        <p:nvSpPr>
          <p:cNvPr id="221" name="Google Shape;221;p11"/>
          <p:cNvSpPr/>
          <p:nvPr/>
        </p:nvSpPr>
        <p:spPr>
          <a:xfrm>
            <a:off x="4171950" y="2533650"/>
            <a:ext cx="114300" cy="114300"/>
          </a:xfrm>
          <a:prstGeom prst="ellipse">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a:off x="4476750" y="2038350"/>
            <a:ext cx="2857500" cy="1104900"/>
          </a:xfrm>
          <a:prstGeom prst="rect">
            <a:avLst/>
          </a:prstGeom>
          <a:solidFill>
            <a:srgbClr val="143B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4686300" y="2276475"/>
            <a:ext cx="2428875"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0">
                <a:solidFill>
                  <a:srgbClr val="F3F7FB"/>
                </a:solidFill>
                <a:latin typeface="Arial"/>
                <a:ea typeface="Arial"/>
                <a:cs typeface="Arial"/>
                <a:sym typeface="Arial"/>
              </a:rPr>
              <a:t>XGBoost learns</a:t>
            </a:r>
            <a:endParaRPr/>
          </a:p>
          <a:p>
            <a:pPr indent="0" lvl="0" marL="0" marR="0" rtl="0" algn="l">
              <a:spcBef>
                <a:spcPts val="0"/>
              </a:spcBef>
              <a:spcAft>
                <a:spcPts val="0"/>
              </a:spcAft>
              <a:buNone/>
            </a:pPr>
            <a:r>
              <a:rPr b="1" lang="en-US" sz="1360">
                <a:solidFill>
                  <a:srgbClr val="F3F7FB"/>
                </a:solidFill>
                <a:latin typeface="Arial"/>
                <a:ea typeface="Arial"/>
                <a:cs typeface="Arial"/>
                <a:sym typeface="Arial"/>
              </a:rPr>
              <a:t>observed temp − GFS temp</a:t>
            </a:r>
            <a:endParaRPr/>
          </a:p>
        </p:txBody>
      </p:sp>
      <p:cxnSp>
        <p:nvCxnSpPr>
          <p:cNvPr id="224" name="Google Shape;224;p11"/>
          <p:cNvCxnSpPr/>
          <p:nvPr/>
        </p:nvCxnSpPr>
        <p:spPr>
          <a:xfrm>
            <a:off x="7524750" y="2590800"/>
            <a:ext cx="495300" cy="0"/>
          </a:xfrm>
          <a:prstGeom prst="straightConnector1">
            <a:avLst/>
          </a:prstGeom>
          <a:noFill/>
          <a:ln cap="flat" cmpd="sng" w="28575">
            <a:solidFill>
              <a:srgbClr val="F2A24B"/>
            </a:solidFill>
            <a:prstDash val="solid"/>
            <a:round/>
            <a:headEnd len="sm" w="sm" type="none"/>
            <a:tailEnd len="sm" w="sm" type="none"/>
          </a:ln>
        </p:spPr>
      </p:cxnSp>
      <p:sp>
        <p:nvSpPr>
          <p:cNvPr id="225" name="Google Shape;225;p11"/>
          <p:cNvSpPr/>
          <p:nvPr/>
        </p:nvSpPr>
        <p:spPr>
          <a:xfrm>
            <a:off x="7943850" y="2533650"/>
            <a:ext cx="114300" cy="114300"/>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8191500" y="2247900"/>
            <a:ext cx="2590800" cy="7683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8343900" y="2390775"/>
            <a:ext cx="22098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88">
                <a:solidFill>
                  <a:srgbClr val="0B2943"/>
                </a:solidFill>
                <a:latin typeface="Arial"/>
                <a:ea typeface="Arial"/>
                <a:cs typeface="Arial"/>
                <a:sym typeface="Arial"/>
              </a:rPr>
              <a:t>Corrected RDU</a:t>
            </a:r>
            <a:endParaRPr sz="1900"/>
          </a:p>
          <a:p>
            <a:pPr indent="0" lvl="0" marL="0" marR="0" rtl="0" algn="l">
              <a:spcBef>
                <a:spcPts val="0"/>
              </a:spcBef>
              <a:spcAft>
                <a:spcPts val="0"/>
              </a:spcAft>
              <a:buNone/>
            </a:pPr>
            <a:r>
              <a:rPr b="1" lang="en-US" sz="1388">
                <a:solidFill>
                  <a:srgbClr val="0B2943"/>
                </a:solidFill>
                <a:latin typeface="Arial"/>
                <a:ea typeface="Arial"/>
                <a:cs typeface="Arial"/>
                <a:sym typeface="Arial"/>
              </a:rPr>
              <a:t>temperature</a:t>
            </a:r>
            <a:endParaRPr sz="1900"/>
          </a:p>
        </p:txBody>
      </p:sp>
      <p:sp>
        <p:nvSpPr>
          <p:cNvPr id="228" name="Google Shape;228;p11"/>
          <p:cNvSpPr/>
          <p:nvPr/>
        </p:nvSpPr>
        <p:spPr>
          <a:xfrm>
            <a:off x="895350" y="3886200"/>
            <a:ext cx="21528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WHY THIS DESIGN</a:t>
            </a:r>
            <a:endParaRPr sz="2000"/>
          </a:p>
        </p:txBody>
      </p:sp>
      <p:sp>
        <p:nvSpPr>
          <p:cNvPr id="229" name="Google Shape;229;p11"/>
          <p:cNvSpPr/>
          <p:nvPr/>
        </p:nvSpPr>
        <p:spPr>
          <a:xfrm>
            <a:off x="895350" y="4267200"/>
            <a:ext cx="40957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58">
                <a:solidFill>
                  <a:srgbClr val="AEC4D6"/>
                </a:solidFill>
                <a:latin typeface="Arial"/>
                <a:ea typeface="Arial"/>
                <a:cs typeface="Arial"/>
                <a:sym typeface="Arial"/>
              </a:rPr>
              <a:t>GFS already contains physical weather information. With a limited archive, correcting its bias is safer than relearning temperature from scratch.</a:t>
            </a:r>
            <a:endParaRPr sz="1700"/>
          </a:p>
        </p:txBody>
      </p:sp>
      <p:sp>
        <p:nvSpPr>
          <p:cNvPr id="230" name="Google Shape;230;p11"/>
          <p:cNvSpPr/>
          <p:nvPr/>
        </p:nvSpPr>
        <p:spPr>
          <a:xfrm>
            <a:off x="6334125" y="3886200"/>
            <a:ext cx="25797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50">
                <a:solidFill>
                  <a:srgbClr val="8EC5EA"/>
                </a:solidFill>
                <a:latin typeface="Arial"/>
                <a:ea typeface="Arial"/>
                <a:cs typeface="Arial"/>
                <a:sym typeface="Arial"/>
              </a:rPr>
              <a:t>SELECTION INSIDE FOLDS</a:t>
            </a:r>
            <a:endParaRPr sz="2000"/>
          </a:p>
        </p:txBody>
      </p:sp>
      <p:sp>
        <p:nvSpPr>
          <p:cNvPr id="231" name="Google Shape;231;p11"/>
          <p:cNvSpPr/>
          <p:nvPr/>
        </p:nvSpPr>
        <p:spPr>
          <a:xfrm>
            <a:off x="6334125" y="4267200"/>
            <a:ext cx="40005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8">
                <a:solidFill>
                  <a:srgbClr val="AEC4D6"/>
                </a:solidFill>
                <a:latin typeface="Arial"/>
                <a:ea typeface="Arial"/>
                <a:cs typeface="Arial"/>
                <a:sym typeface="Arial"/>
              </a:rPr>
              <a:t>Gain-based importance selects useful variables using only training rows. The held-out forecast horizon stays unseen.</a:t>
            </a:r>
            <a:endParaRPr sz="1800"/>
          </a:p>
        </p:txBody>
      </p:sp>
      <p:sp>
        <p:nvSpPr>
          <p:cNvPr id="232" name="Google Shape;232;p11"/>
          <p:cNvSpPr/>
          <p:nvPr/>
        </p:nvSpPr>
        <p:spPr>
          <a:xfrm>
            <a:off x="895350" y="5638800"/>
            <a:ext cx="93345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75">
                <a:solidFill>
                  <a:srgbClr val="AEC4D6"/>
                </a:solidFill>
                <a:latin typeface="Arial"/>
                <a:ea typeface="Arial"/>
                <a:cs typeface="Arial"/>
                <a:sym typeface="Arial"/>
              </a:rPr>
              <a:t>Run  /  rdu_temperature.models.xgboost_backtest</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237" name="Shape 237"/>
        <p:cNvGrpSpPr/>
        <p:nvPr/>
      </p:nvGrpSpPr>
      <p:grpSpPr>
        <a:xfrm>
          <a:off x="0" y="0"/>
          <a:ext cx="0" cy="0"/>
          <a:chOff x="0" y="0"/>
          <a:chExt cx="0" cy="0"/>
        </a:xfrm>
      </p:grpSpPr>
      <p:sp>
        <p:nvSpPr>
          <p:cNvPr id="238" name="Google Shape;238;p12"/>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F3F7FB"/>
                </a:solidFill>
                <a:latin typeface="Arial"/>
                <a:ea typeface="Arial"/>
                <a:cs typeface="Arial"/>
                <a:sym typeface="Arial"/>
              </a:rPr>
              <a:t>Feature engineering and leakage safeguards</a:t>
            </a:r>
            <a:endParaRPr/>
          </a:p>
        </p:txBody>
      </p:sp>
      <p:sp>
        <p:nvSpPr>
          <p:cNvPr id="241" name="Google Shape;241;p12"/>
          <p:cNvSpPr/>
          <p:nvPr/>
        </p:nvSpPr>
        <p:spPr>
          <a:xfrm>
            <a:off x="685800" y="1257300"/>
            <a:ext cx="66675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685800" y="6486525"/>
            <a:ext cx="409575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243" name="Google Shape;243;p12"/>
          <p:cNvSpPr/>
          <p:nvPr/>
        </p:nvSpPr>
        <p:spPr>
          <a:xfrm>
            <a:off x="11049000" y="6486525"/>
            <a:ext cx="457200" cy="142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10</a:t>
            </a:r>
            <a:endParaRPr/>
          </a:p>
        </p:txBody>
      </p:sp>
      <p:sp>
        <p:nvSpPr>
          <p:cNvPr id="244" name="Google Shape;244;p12"/>
          <p:cNvSpPr/>
          <p:nvPr/>
        </p:nvSpPr>
        <p:spPr>
          <a:xfrm>
            <a:off x="895350" y="1781175"/>
            <a:ext cx="152400" cy="152400"/>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1333500" y="1714500"/>
            <a:ext cx="21907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63">
                <a:solidFill>
                  <a:srgbClr val="F3F7FB"/>
                </a:solidFill>
                <a:latin typeface="Arial"/>
                <a:ea typeface="Arial"/>
                <a:cs typeface="Arial"/>
                <a:sym typeface="Arial"/>
              </a:rPr>
              <a:t>Forecast weather</a:t>
            </a:r>
            <a:endParaRPr sz="1900"/>
          </a:p>
        </p:txBody>
      </p:sp>
      <p:sp>
        <p:nvSpPr>
          <p:cNvPr id="246" name="Google Shape;246;p12"/>
          <p:cNvSpPr/>
          <p:nvPr/>
        </p:nvSpPr>
        <p:spPr>
          <a:xfrm>
            <a:off x="3943350" y="1714500"/>
            <a:ext cx="6334125"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GFS temperature, dew point, precipitation rate, wind, cloud cover</a:t>
            </a:r>
            <a:endParaRPr/>
          </a:p>
        </p:txBody>
      </p:sp>
      <p:cxnSp>
        <p:nvCxnSpPr>
          <p:cNvPr id="247" name="Google Shape;247;p12"/>
          <p:cNvCxnSpPr/>
          <p:nvPr/>
        </p:nvCxnSpPr>
        <p:spPr>
          <a:xfrm>
            <a:off x="1333500" y="2238375"/>
            <a:ext cx="8953500" cy="0"/>
          </a:xfrm>
          <a:prstGeom prst="straightConnector1">
            <a:avLst/>
          </a:prstGeom>
          <a:noFill/>
          <a:ln cap="flat" cmpd="sng" w="9525">
            <a:solidFill>
              <a:srgbClr val="244866"/>
            </a:solidFill>
            <a:prstDash val="solid"/>
            <a:round/>
            <a:headEnd len="sm" w="sm" type="none"/>
            <a:tailEnd len="sm" w="sm" type="none"/>
          </a:ln>
        </p:spPr>
      </p:cxnSp>
      <p:sp>
        <p:nvSpPr>
          <p:cNvPr id="248" name="Google Shape;248;p12"/>
          <p:cNvSpPr/>
          <p:nvPr/>
        </p:nvSpPr>
        <p:spPr>
          <a:xfrm>
            <a:off x="895350" y="2647950"/>
            <a:ext cx="152400" cy="152400"/>
          </a:xfrm>
          <a:prstGeom prst="ellipse">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1333500" y="2581275"/>
            <a:ext cx="21907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63">
                <a:solidFill>
                  <a:srgbClr val="F3F7FB"/>
                </a:solidFill>
                <a:latin typeface="Arial"/>
                <a:ea typeface="Arial"/>
                <a:cs typeface="Arial"/>
                <a:sym typeface="Arial"/>
              </a:rPr>
              <a:t>Forecast context</a:t>
            </a:r>
            <a:endParaRPr sz="1900"/>
          </a:p>
        </p:txBody>
      </p:sp>
      <p:sp>
        <p:nvSpPr>
          <p:cNvPr id="250" name="Google Shape;250;p12"/>
          <p:cNvSpPr/>
          <p:nvPr/>
        </p:nvSpPr>
        <p:spPr>
          <a:xfrm>
            <a:off x="3943350" y="2581275"/>
            <a:ext cx="6334125"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Lead hour and an interpolation flag identify the coarser end of the horizon</a:t>
            </a:r>
            <a:endParaRPr/>
          </a:p>
        </p:txBody>
      </p:sp>
      <p:cxnSp>
        <p:nvCxnSpPr>
          <p:cNvPr id="251" name="Google Shape;251;p12"/>
          <p:cNvCxnSpPr/>
          <p:nvPr/>
        </p:nvCxnSpPr>
        <p:spPr>
          <a:xfrm>
            <a:off x="1333500" y="3105150"/>
            <a:ext cx="8953500" cy="0"/>
          </a:xfrm>
          <a:prstGeom prst="straightConnector1">
            <a:avLst/>
          </a:prstGeom>
          <a:noFill/>
          <a:ln cap="flat" cmpd="sng" w="9525">
            <a:solidFill>
              <a:srgbClr val="244866"/>
            </a:solidFill>
            <a:prstDash val="solid"/>
            <a:round/>
            <a:headEnd len="sm" w="sm" type="none"/>
            <a:tailEnd len="sm" w="sm" type="none"/>
          </a:ln>
        </p:spPr>
      </p:cxnSp>
      <p:sp>
        <p:nvSpPr>
          <p:cNvPr id="252" name="Google Shape;252;p12"/>
          <p:cNvSpPr/>
          <p:nvPr/>
        </p:nvSpPr>
        <p:spPr>
          <a:xfrm>
            <a:off x="895350" y="3514725"/>
            <a:ext cx="152400" cy="152400"/>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1333500" y="3448050"/>
            <a:ext cx="21907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63">
                <a:solidFill>
                  <a:srgbClr val="F3F7FB"/>
                </a:solidFill>
                <a:latin typeface="Arial"/>
                <a:ea typeface="Arial"/>
                <a:cs typeface="Arial"/>
                <a:sym typeface="Arial"/>
              </a:rPr>
              <a:t>Calendar cycles</a:t>
            </a:r>
            <a:endParaRPr sz="1900"/>
          </a:p>
        </p:txBody>
      </p:sp>
      <p:sp>
        <p:nvSpPr>
          <p:cNvPr id="254" name="Google Shape;254;p12"/>
          <p:cNvSpPr/>
          <p:nvPr/>
        </p:nvSpPr>
        <p:spPr>
          <a:xfrm>
            <a:off x="3943350" y="3448050"/>
            <a:ext cx="6334125"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Hour-of-day and day-of-year sine/cosine terms preserve cyclic continuity</a:t>
            </a:r>
            <a:endParaRPr/>
          </a:p>
        </p:txBody>
      </p:sp>
      <p:cxnSp>
        <p:nvCxnSpPr>
          <p:cNvPr id="255" name="Google Shape;255;p12"/>
          <p:cNvCxnSpPr/>
          <p:nvPr/>
        </p:nvCxnSpPr>
        <p:spPr>
          <a:xfrm>
            <a:off x="1333500" y="3971925"/>
            <a:ext cx="8953500" cy="0"/>
          </a:xfrm>
          <a:prstGeom prst="straightConnector1">
            <a:avLst/>
          </a:prstGeom>
          <a:noFill/>
          <a:ln cap="flat" cmpd="sng" w="9525">
            <a:solidFill>
              <a:srgbClr val="244866"/>
            </a:solidFill>
            <a:prstDash val="solid"/>
            <a:round/>
            <a:headEnd len="sm" w="sm" type="none"/>
            <a:tailEnd len="sm" w="sm" type="none"/>
          </a:ln>
        </p:spPr>
      </p:cxnSp>
      <p:sp>
        <p:nvSpPr>
          <p:cNvPr id="256" name="Google Shape;256;p12"/>
          <p:cNvSpPr/>
          <p:nvPr/>
        </p:nvSpPr>
        <p:spPr>
          <a:xfrm>
            <a:off x="895350" y="4381500"/>
            <a:ext cx="152400" cy="152400"/>
          </a:xfrm>
          <a:prstGeom prst="ellipse">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2"/>
          <p:cNvSpPr/>
          <p:nvPr/>
        </p:nvSpPr>
        <p:spPr>
          <a:xfrm>
            <a:off x="1333500" y="4314825"/>
            <a:ext cx="21907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63">
                <a:solidFill>
                  <a:srgbClr val="F3F7FB"/>
                </a:solidFill>
                <a:latin typeface="Arial"/>
                <a:ea typeface="Arial"/>
                <a:cs typeface="Arial"/>
                <a:sym typeface="Arial"/>
              </a:rPr>
              <a:t>Train-only selection</a:t>
            </a:r>
            <a:endParaRPr sz="1900"/>
          </a:p>
        </p:txBody>
      </p:sp>
      <p:sp>
        <p:nvSpPr>
          <p:cNvPr id="258" name="Google Shape;258;p12"/>
          <p:cNvSpPr/>
          <p:nvPr/>
        </p:nvSpPr>
        <p:spPr>
          <a:xfrm>
            <a:off x="3943350" y="4314825"/>
            <a:ext cx="6334125"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AEC4D6"/>
                </a:solidFill>
                <a:latin typeface="Arial"/>
                <a:ea typeface="Arial"/>
                <a:cs typeface="Arial"/>
                <a:sym typeface="Arial"/>
              </a:rPr>
              <a:t>XGBoost gain importance is fit inside each training slice</a:t>
            </a:r>
            <a:endParaRPr/>
          </a:p>
        </p:txBody>
      </p:sp>
      <p:cxnSp>
        <p:nvCxnSpPr>
          <p:cNvPr id="259" name="Google Shape;259;p12"/>
          <p:cNvCxnSpPr/>
          <p:nvPr/>
        </p:nvCxnSpPr>
        <p:spPr>
          <a:xfrm>
            <a:off x="1333500" y="4838700"/>
            <a:ext cx="8953500" cy="0"/>
          </a:xfrm>
          <a:prstGeom prst="straightConnector1">
            <a:avLst/>
          </a:prstGeom>
          <a:noFill/>
          <a:ln cap="flat" cmpd="sng" w="9525">
            <a:solidFill>
              <a:srgbClr val="244866"/>
            </a:solidFill>
            <a:prstDash val="solid"/>
            <a:round/>
            <a:headEnd len="sm" w="sm" type="none"/>
            <a:tailEnd len="sm" w="sm" type="none"/>
          </a:ln>
        </p:spPr>
      </p:cxnSp>
      <p:sp>
        <p:nvSpPr>
          <p:cNvPr id="260" name="Google Shape;260;p12"/>
          <p:cNvSpPr/>
          <p:nvPr/>
        </p:nvSpPr>
        <p:spPr>
          <a:xfrm>
            <a:off x="857250" y="5572125"/>
            <a:ext cx="9925200" cy="5355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61" name="Google Shape;261;p12"/>
          <p:cNvSpPr/>
          <p:nvPr/>
        </p:nvSpPr>
        <p:spPr>
          <a:xfrm>
            <a:off x="1066800" y="5695950"/>
            <a:ext cx="92392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75">
                <a:solidFill>
                  <a:srgbClr val="0B2943"/>
                </a:solidFill>
                <a:latin typeface="Arial"/>
                <a:ea typeface="Arial"/>
                <a:cs typeface="Arial"/>
                <a:sym typeface="Arial"/>
              </a:rPr>
              <a:t>Leakage rule: every feature exists at the fold cutoff. Validation begins afterward.</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266" name="Shape 266"/>
        <p:cNvGrpSpPr/>
        <p:nvPr/>
      </p:nvGrpSpPr>
      <p:grpSpPr>
        <a:xfrm>
          <a:off x="0" y="0"/>
          <a:ext cx="0" cy="0"/>
          <a:chOff x="0" y="0"/>
          <a:chExt cx="0" cy="0"/>
        </a:xfrm>
      </p:grpSpPr>
      <p:sp>
        <p:nvSpPr>
          <p:cNvPr id="267" name="Google Shape;267;p13"/>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25">
                <a:solidFill>
                  <a:srgbClr val="F3F7FB"/>
                </a:solidFill>
                <a:latin typeface="Arial"/>
                <a:ea typeface="Arial"/>
                <a:cs typeface="Arial"/>
                <a:sym typeface="Arial"/>
              </a:rPr>
              <a:t>Results on shared GFS rolling folds</a:t>
            </a:r>
            <a:endParaRPr sz="1500"/>
          </a:p>
        </p:txBody>
      </p:sp>
      <p:sp>
        <p:nvSpPr>
          <p:cNvPr id="270" name="Google Shape;270;p13"/>
          <p:cNvSpPr/>
          <p:nvPr/>
        </p:nvSpPr>
        <p:spPr>
          <a:xfrm>
            <a:off x="704850" y="914400"/>
            <a:ext cx="9906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50">
                <a:solidFill>
                  <a:srgbClr val="AEC4D6"/>
                </a:solidFill>
                <a:latin typeface="Arial"/>
                <a:ea typeface="Arial"/>
                <a:cs typeface="Arial"/>
                <a:sym typeface="Arial"/>
              </a:rPr>
              <a:t>All models predict the same 19 forecast origins, each with a 336-hour horizon</a:t>
            </a:r>
            <a:endParaRPr sz="1600"/>
          </a:p>
        </p:txBody>
      </p:sp>
      <p:sp>
        <p:nvSpPr>
          <p:cNvPr id="271" name="Google Shape;271;p13"/>
          <p:cNvSpPr/>
          <p:nvPr/>
        </p:nvSpPr>
        <p:spPr>
          <a:xfrm>
            <a:off x="685800" y="1257300"/>
            <a:ext cx="66690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
          <p:cNvSpPr/>
          <p:nvPr/>
        </p:nvSpPr>
        <p:spPr>
          <a:xfrm>
            <a:off x="685800" y="6486525"/>
            <a:ext cx="40959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273" name="Google Shape;273;p13"/>
          <p:cNvSpPr/>
          <p:nvPr/>
        </p:nvSpPr>
        <p:spPr>
          <a:xfrm>
            <a:off x="11049000" y="6486525"/>
            <a:ext cx="4572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11</a:t>
            </a:r>
            <a:endParaRPr/>
          </a:p>
        </p:txBody>
      </p:sp>
      <p:sp>
        <p:nvSpPr>
          <p:cNvPr id="274" name="Google Shape;274;p13"/>
          <p:cNvSpPr/>
          <p:nvPr/>
        </p:nvSpPr>
        <p:spPr>
          <a:xfrm>
            <a:off x="685800" y="1562100"/>
            <a:ext cx="7239000" cy="4000500"/>
          </a:xfrm>
          <a:prstGeom prst="rect">
            <a:avLst/>
          </a:prstGeom>
          <a:solidFill>
            <a:srgbClr val="F7FA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13"/>
          <p:cNvPicPr preferRelativeResize="0"/>
          <p:nvPr/>
        </p:nvPicPr>
        <p:blipFill rotWithShape="1">
          <a:blip r:embed="rId3">
            <a:alphaModFix/>
          </a:blip>
          <a:srcRect b="0" l="0" r="0" t="0"/>
          <a:stretch/>
        </p:blipFill>
        <p:spPr>
          <a:xfrm>
            <a:off x="1047750" y="1952625"/>
            <a:ext cx="6191400" cy="3095700"/>
          </a:xfrm>
          <a:prstGeom prst="rect">
            <a:avLst/>
          </a:prstGeom>
          <a:noFill/>
          <a:ln>
            <a:noFill/>
          </a:ln>
        </p:spPr>
      </p:pic>
      <p:sp>
        <p:nvSpPr>
          <p:cNvPr id="276" name="Google Shape;276;p13"/>
          <p:cNvSpPr/>
          <p:nvPr/>
        </p:nvSpPr>
        <p:spPr>
          <a:xfrm>
            <a:off x="8334375" y="1562100"/>
            <a:ext cx="2905200" cy="4000500"/>
          </a:xfrm>
          <a:prstGeom prst="rect">
            <a:avLst/>
          </a:prstGeom>
          <a:solidFill>
            <a:srgbClr val="143B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8667750" y="1924050"/>
            <a:ext cx="1714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8EC5EA"/>
                </a:solidFill>
                <a:latin typeface="Arial"/>
                <a:ea typeface="Arial"/>
                <a:cs typeface="Arial"/>
                <a:sym typeface="Arial"/>
              </a:rPr>
              <a:t>READ WITH CARE</a:t>
            </a:r>
            <a:endParaRPr sz="1800"/>
          </a:p>
        </p:txBody>
      </p:sp>
      <p:sp>
        <p:nvSpPr>
          <p:cNvPr id="278" name="Google Shape;278;p13"/>
          <p:cNvSpPr/>
          <p:nvPr/>
        </p:nvSpPr>
        <p:spPr>
          <a:xfrm>
            <a:off x="8667750" y="2266950"/>
            <a:ext cx="2095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13">
                <a:solidFill>
                  <a:srgbClr val="F3F7FB"/>
                </a:solidFill>
                <a:latin typeface="Arial"/>
                <a:ea typeface="Arial"/>
                <a:cs typeface="Arial"/>
                <a:sym typeface="Arial"/>
              </a:rPr>
              <a:t>Lower MAE</a:t>
            </a:r>
            <a:endParaRPr sz="1700"/>
          </a:p>
          <a:p>
            <a:pPr indent="0" lvl="0" marL="0" marR="0" rtl="0" algn="l">
              <a:spcBef>
                <a:spcPts val="0"/>
              </a:spcBef>
              <a:spcAft>
                <a:spcPts val="0"/>
              </a:spcAft>
              <a:buNone/>
            </a:pPr>
            <a:r>
              <a:rPr b="1" lang="en-US" sz="1813">
                <a:solidFill>
                  <a:srgbClr val="F3F7FB"/>
                </a:solidFill>
                <a:latin typeface="Arial"/>
                <a:ea typeface="Arial"/>
                <a:cs typeface="Arial"/>
                <a:sym typeface="Arial"/>
              </a:rPr>
              <a:t>is better.</a:t>
            </a:r>
            <a:endParaRPr sz="1700"/>
          </a:p>
        </p:txBody>
      </p:sp>
      <p:sp>
        <p:nvSpPr>
          <p:cNvPr id="279" name="Google Shape;279;p13"/>
          <p:cNvSpPr/>
          <p:nvPr/>
        </p:nvSpPr>
        <p:spPr>
          <a:xfrm>
            <a:off x="8672400" y="2981325"/>
            <a:ext cx="2143200" cy="102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25">
                <a:solidFill>
                  <a:srgbClr val="AEC4D6"/>
                </a:solidFill>
                <a:latin typeface="Arial"/>
                <a:ea typeface="Arial"/>
                <a:cs typeface="Arial"/>
                <a:sym typeface="Arial"/>
              </a:rPr>
              <a:t>All three lowered average MAE versus raw GFS.</a:t>
            </a:r>
            <a:endParaRPr sz="1600"/>
          </a:p>
          <a:p>
            <a:pPr indent="0" lvl="0" marL="0" marR="0" rtl="0" algn="l">
              <a:spcBef>
                <a:spcPts val="0"/>
              </a:spcBef>
              <a:spcAft>
                <a:spcPts val="0"/>
              </a:spcAft>
              <a:buNone/>
            </a:pPr>
            <a:r>
              <a:t/>
            </a:r>
            <a:endParaRPr b="0" sz="1325">
              <a:solidFill>
                <a:srgbClr val="AEC4D6"/>
              </a:solidFill>
              <a:latin typeface="Arial"/>
              <a:ea typeface="Arial"/>
              <a:cs typeface="Arial"/>
              <a:sym typeface="Arial"/>
            </a:endParaRPr>
          </a:p>
          <a:p>
            <a:pPr indent="0" lvl="0" marL="0" marR="0" rtl="0" algn="l">
              <a:spcBef>
                <a:spcPts val="0"/>
              </a:spcBef>
              <a:spcAft>
                <a:spcPts val="0"/>
              </a:spcAft>
              <a:buNone/>
            </a:pPr>
            <a:r>
              <a:rPr b="0" lang="en-US" sz="1225">
                <a:solidFill>
                  <a:srgbClr val="AEC4D6"/>
                </a:solidFill>
                <a:latin typeface="Arial"/>
                <a:ea typeface="Arial"/>
                <a:cs typeface="Arial"/>
                <a:sym typeface="Arial"/>
              </a:rPr>
              <a:t>Paired bootstrap supports Linear + GFS and XGBoost; Prophet's interval crosses zero.</a:t>
            </a:r>
            <a:endParaRPr sz="1600"/>
          </a:p>
        </p:txBody>
      </p:sp>
      <p:sp>
        <p:nvSpPr>
          <p:cNvPr id="280" name="Google Shape;280;p13"/>
          <p:cNvSpPr/>
          <p:nvPr/>
        </p:nvSpPr>
        <p:spPr>
          <a:xfrm>
            <a:off x="8572500" y="4457700"/>
            <a:ext cx="2333700" cy="685800"/>
          </a:xfrm>
          <a:prstGeom prst="rect">
            <a:avLst/>
          </a:prstGeom>
          <a:solidFill>
            <a:srgbClr val="DC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8743950" y="4600575"/>
            <a:ext cx="20001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0B2943"/>
                </a:solidFill>
                <a:latin typeface="Arial"/>
                <a:ea typeface="Arial"/>
                <a:cs typeface="Arial"/>
                <a:sym typeface="Arial"/>
              </a:rPr>
              <a:t>PRIMARY FORECAST</a:t>
            </a:r>
            <a:endParaRPr sz="1500"/>
          </a:p>
          <a:p>
            <a:pPr indent="0" lvl="0" marL="0" marR="0" rtl="0" algn="l">
              <a:spcBef>
                <a:spcPts val="0"/>
              </a:spcBef>
              <a:spcAft>
                <a:spcPts val="0"/>
              </a:spcAft>
              <a:buNone/>
            </a:pPr>
            <a:r>
              <a:rPr b="1" lang="en-US" sz="1050">
                <a:solidFill>
                  <a:srgbClr val="0B2943"/>
                </a:solidFill>
                <a:latin typeface="Arial"/>
                <a:ea typeface="Arial"/>
                <a:cs typeface="Arial"/>
                <a:sym typeface="Arial"/>
              </a:rPr>
              <a:t>Linear + GFS   2.71 °C</a:t>
            </a:r>
            <a:endParaRPr sz="1500"/>
          </a:p>
        </p:txBody>
      </p:sp>
      <p:sp>
        <p:nvSpPr>
          <p:cNvPr id="282" name="Google Shape;282;p13"/>
          <p:cNvSpPr/>
          <p:nvPr/>
        </p:nvSpPr>
        <p:spPr>
          <a:xfrm>
            <a:off x="742950" y="5810250"/>
            <a:ext cx="9810900" cy="209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75">
                <a:solidFill>
                  <a:srgbClr val="AEC4D6"/>
                </a:solidFill>
                <a:latin typeface="Arial"/>
                <a:ea typeface="Arial"/>
                <a:cs typeface="Arial"/>
                <a:sym typeface="Arial"/>
              </a:rPr>
              <a:t>September-only: Prophet + GFS MAE 2.17 °C, but n = 2 is insufficient for model selection.</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287" name="Shape 287"/>
        <p:cNvGrpSpPr/>
        <p:nvPr/>
      </p:nvGrpSpPr>
      <p:grpSpPr>
        <a:xfrm>
          <a:off x="0" y="0"/>
          <a:ext cx="0" cy="0"/>
          <a:chOff x="0" y="0"/>
          <a:chExt cx="0" cy="0"/>
        </a:xfrm>
      </p:grpSpPr>
      <p:sp>
        <p:nvSpPr>
          <p:cNvPr id="288" name="Google Shape;288;p14"/>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685800" y="419100"/>
            <a:ext cx="10096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25">
                <a:solidFill>
                  <a:srgbClr val="F3F7FB"/>
                </a:solidFill>
                <a:latin typeface="Arial"/>
                <a:ea typeface="Arial"/>
                <a:cs typeface="Arial"/>
                <a:sym typeface="Arial"/>
              </a:rPr>
              <a:t>What we learned</a:t>
            </a:r>
            <a:endParaRPr sz="1800"/>
          </a:p>
        </p:txBody>
      </p:sp>
      <p:sp>
        <p:nvSpPr>
          <p:cNvPr id="291" name="Google Shape;291;p14"/>
          <p:cNvSpPr/>
          <p:nvPr/>
        </p:nvSpPr>
        <p:spPr>
          <a:xfrm>
            <a:off x="685800" y="1257300"/>
            <a:ext cx="666900" cy="381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685800" y="6486525"/>
            <a:ext cx="40959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938">
                <a:solidFill>
                  <a:srgbClr val="7896AC"/>
                </a:solidFill>
                <a:latin typeface="Arial"/>
                <a:ea typeface="Arial"/>
                <a:cs typeface="Arial"/>
                <a:sym typeface="Arial"/>
              </a:rPr>
              <a:t>AIPI 520  /  RDU temperature forecasting</a:t>
            </a:r>
            <a:endParaRPr sz="2000"/>
          </a:p>
        </p:txBody>
      </p:sp>
      <p:sp>
        <p:nvSpPr>
          <p:cNvPr id="293" name="Google Shape;293;p14"/>
          <p:cNvSpPr/>
          <p:nvPr/>
        </p:nvSpPr>
        <p:spPr>
          <a:xfrm>
            <a:off x="11049000" y="6486525"/>
            <a:ext cx="457200" cy="14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338">
                <a:solidFill>
                  <a:srgbClr val="7896AC"/>
                </a:solidFill>
                <a:latin typeface="Arial"/>
                <a:ea typeface="Arial"/>
                <a:cs typeface="Arial"/>
                <a:sym typeface="Arial"/>
              </a:rPr>
              <a:t>12</a:t>
            </a:r>
            <a:endParaRPr/>
          </a:p>
        </p:txBody>
      </p:sp>
      <p:sp>
        <p:nvSpPr>
          <p:cNvPr id="294" name="Google Shape;294;p14"/>
          <p:cNvSpPr/>
          <p:nvPr/>
        </p:nvSpPr>
        <p:spPr>
          <a:xfrm>
            <a:off x="895350" y="1666875"/>
            <a:ext cx="5334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8EC5EA"/>
                </a:solidFill>
                <a:latin typeface="Arial"/>
                <a:ea typeface="Arial"/>
                <a:cs typeface="Arial"/>
                <a:sym typeface="Arial"/>
              </a:rPr>
              <a:t>01</a:t>
            </a:r>
            <a:endParaRPr sz="1800"/>
          </a:p>
        </p:txBody>
      </p:sp>
      <p:sp>
        <p:nvSpPr>
          <p:cNvPr id="295" name="Google Shape;295;p14"/>
          <p:cNvSpPr/>
          <p:nvPr/>
        </p:nvSpPr>
        <p:spPr>
          <a:xfrm>
            <a:off x="1762125" y="1666875"/>
            <a:ext cx="3429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3">
                <a:solidFill>
                  <a:srgbClr val="F3F7FB"/>
                </a:solidFill>
                <a:latin typeface="Arial"/>
                <a:ea typeface="Arial"/>
                <a:cs typeface="Arial"/>
                <a:sym typeface="Arial"/>
              </a:rPr>
              <a:t>Forecast-time information</a:t>
            </a:r>
            <a:endParaRPr sz="1800"/>
          </a:p>
        </p:txBody>
      </p:sp>
      <p:sp>
        <p:nvSpPr>
          <p:cNvPr id="296" name="Google Shape;296;p14"/>
          <p:cNvSpPr/>
          <p:nvPr/>
        </p:nvSpPr>
        <p:spPr>
          <a:xfrm>
            <a:off x="1762125" y="2028825"/>
            <a:ext cx="72390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75">
                <a:solidFill>
                  <a:srgbClr val="AEC4D6"/>
                </a:solidFill>
                <a:latin typeface="Arial"/>
                <a:ea typeface="Arial"/>
                <a:cs typeface="Arial"/>
                <a:sym typeface="Arial"/>
              </a:rPr>
              <a:t>Future weather features must come from a run available before the cutoff.</a:t>
            </a:r>
            <a:endParaRPr sz="1800"/>
          </a:p>
        </p:txBody>
      </p:sp>
      <p:cxnSp>
        <p:nvCxnSpPr>
          <p:cNvPr id="297" name="Google Shape;297;p14"/>
          <p:cNvCxnSpPr/>
          <p:nvPr/>
        </p:nvCxnSpPr>
        <p:spPr>
          <a:xfrm>
            <a:off x="1762125" y="2381250"/>
            <a:ext cx="8429700" cy="0"/>
          </a:xfrm>
          <a:prstGeom prst="straightConnector1">
            <a:avLst/>
          </a:prstGeom>
          <a:noFill/>
          <a:ln cap="flat" cmpd="sng" w="9525">
            <a:solidFill>
              <a:srgbClr val="244866"/>
            </a:solidFill>
            <a:prstDash val="solid"/>
            <a:round/>
            <a:headEnd len="sm" w="sm" type="none"/>
            <a:tailEnd len="sm" w="sm" type="none"/>
          </a:ln>
        </p:spPr>
      </p:cxnSp>
      <p:sp>
        <p:nvSpPr>
          <p:cNvPr id="298" name="Google Shape;298;p14"/>
          <p:cNvSpPr/>
          <p:nvPr/>
        </p:nvSpPr>
        <p:spPr>
          <a:xfrm>
            <a:off x="895350" y="2619375"/>
            <a:ext cx="5334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F2A24B"/>
                </a:solidFill>
                <a:latin typeface="Arial"/>
                <a:ea typeface="Arial"/>
                <a:cs typeface="Arial"/>
                <a:sym typeface="Arial"/>
              </a:rPr>
              <a:t>02</a:t>
            </a:r>
            <a:endParaRPr sz="1800">
              <a:solidFill>
                <a:srgbClr val="F2A24B"/>
              </a:solidFill>
            </a:endParaRPr>
          </a:p>
        </p:txBody>
      </p:sp>
      <p:sp>
        <p:nvSpPr>
          <p:cNvPr id="299" name="Google Shape;299;p14"/>
          <p:cNvSpPr/>
          <p:nvPr/>
        </p:nvSpPr>
        <p:spPr>
          <a:xfrm>
            <a:off x="1762125" y="2619375"/>
            <a:ext cx="3429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3">
                <a:solidFill>
                  <a:srgbClr val="F3F7FB"/>
                </a:solidFill>
                <a:latin typeface="Arial"/>
                <a:ea typeface="Arial"/>
                <a:cs typeface="Arial"/>
                <a:sym typeface="Arial"/>
              </a:rPr>
              <a:t>One shared data contract</a:t>
            </a:r>
            <a:endParaRPr sz="1800"/>
          </a:p>
        </p:txBody>
      </p:sp>
      <p:sp>
        <p:nvSpPr>
          <p:cNvPr id="300" name="Google Shape;300;p14"/>
          <p:cNvSpPr/>
          <p:nvPr/>
        </p:nvSpPr>
        <p:spPr>
          <a:xfrm>
            <a:off x="1762125" y="2981325"/>
            <a:ext cx="72390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75">
                <a:solidFill>
                  <a:srgbClr val="AEC4D6"/>
                </a:solidFill>
                <a:latin typeface="Arial"/>
                <a:ea typeface="Arial"/>
                <a:cs typeface="Arial"/>
                <a:sym typeface="Arial"/>
              </a:rPr>
              <a:t>Canonical cleaned data reduces repeated model-specific work.</a:t>
            </a:r>
            <a:endParaRPr sz="1800"/>
          </a:p>
        </p:txBody>
      </p:sp>
      <p:cxnSp>
        <p:nvCxnSpPr>
          <p:cNvPr id="301" name="Google Shape;301;p14"/>
          <p:cNvCxnSpPr/>
          <p:nvPr/>
        </p:nvCxnSpPr>
        <p:spPr>
          <a:xfrm>
            <a:off x="1762125" y="3333750"/>
            <a:ext cx="8429700" cy="0"/>
          </a:xfrm>
          <a:prstGeom prst="straightConnector1">
            <a:avLst/>
          </a:prstGeom>
          <a:noFill/>
          <a:ln cap="flat" cmpd="sng" w="9525">
            <a:solidFill>
              <a:srgbClr val="244866"/>
            </a:solidFill>
            <a:prstDash val="solid"/>
            <a:round/>
            <a:headEnd len="sm" w="sm" type="none"/>
            <a:tailEnd len="sm" w="sm" type="none"/>
          </a:ln>
        </p:spPr>
      </p:cxnSp>
      <p:sp>
        <p:nvSpPr>
          <p:cNvPr id="302" name="Google Shape;302;p14"/>
          <p:cNvSpPr/>
          <p:nvPr/>
        </p:nvSpPr>
        <p:spPr>
          <a:xfrm>
            <a:off x="895350" y="3571875"/>
            <a:ext cx="5334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8EC5EA"/>
                </a:solidFill>
                <a:latin typeface="Arial"/>
                <a:ea typeface="Arial"/>
                <a:cs typeface="Arial"/>
                <a:sym typeface="Arial"/>
              </a:rPr>
              <a:t>03</a:t>
            </a:r>
            <a:endParaRPr sz="1800"/>
          </a:p>
        </p:txBody>
      </p:sp>
      <p:sp>
        <p:nvSpPr>
          <p:cNvPr id="303" name="Google Shape;303;p14"/>
          <p:cNvSpPr/>
          <p:nvPr/>
        </p:nvSpPr>
        <p:spPr>
          <a:xfrm>
            <a:off x="1762125" y="3571875"/>
            <a:ext cx="3429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3">
                <a:solidFill>
                  <a:srgbClr val="F3F7FB"/>
                </a:solidFill>
                <a:latin typeface="Arial"/>
                <a:ea typeface="Arial"/>
                <a:cs typeface="Arial"/>
                <a:sym typeface="Arial"/>
              </a:rPr>
              <a:t>Matched folds for MAE</a:t>
            </a:r>
            <a:endParaRPr sz="1800"/>
          </a:p>
        </p:txBody>
      </p:sp>
      <p:sp>
        <p:nvSpPr>
          <p:cNvPr id="304" name="Google Shape;304;p14"/>
          <p:cNvSpPr/>
          <p:nvPr/>
        </p:nvSpPr>
        <p:spPr>
          <a:xfrm>
            <a:off x="1762125" y="3933825"/>
            <a:ext cx="72390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75">
                <a:solidFill>
                  <a:srgbClr val="AEC4D6"/>
                </a:solidFill>
                <a:latin typeface="Arial"/>
                <a:ea typeface="Arial"/>
                <a:cs typeface="Arial"/>
                <a:sym typeface="Arial"/>
              </a:rPr>
              <a:t>Compare models only when they predict the same windows.</a:t>
            </a:r>
            <a:endParaRPr sz="1800"/>
          </a:p>
        </p:txBody>
      </p:sp>
      <p:cxnSp>
        <p:nvCxnSpPr>
          <p:cNvPr id="305" name="Google Shape;305;p14"/>
          <p:cNvCxnSpPr/>
          <p:nvPr/>
        </p:nvCxnSpPr>
        <p:spPr>
          <a:xfrm>
            <a:off x="1762125" y="4286250"/>
            <a:ext cx="8429700" cy="0"/>
          </a:xfrm>
          <a:prstGeom prst="straightConnector1">
            <a:avLst/>
          </a:prstGeom>
          <a:noFill/>
          <a:ln cap="flat" cmpd="sng" w="9525">
            <a:solidFill>
              <a:srgbClr val="244866"/>
            </a:solidFill>
            <a:prstDash val="solid"/>
            <a:round/>
            <a:headEnd len="sm" w="sm" type="none"/>
            <a:tailEnd len="sm" w="sm" type="none"/>
          </a:ln>
        </p:spPr>
      </p:cxnSp>
      <p:sp>
        <p:nvSpPr>
          <p:cNvPr id="306" name="Google Shape;306;p14"/>
          <p:cNvSpPr/>
          <p:nvPr/>
        </p:nvSpPr>
        <p:spPr>
          <a:xfrm>
            <a:off x="895350" y="4524375"/>
            <a:ext cx="5334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75">
                <a:solidFill>
                  <a:srgbClr val="F2A24B"/>
                </a:solidFill>
                <a:latin typeface="Arial"/>
                <a:ea typeface="Arial"/>
                <a:cs typeface="Arial"/>
                <a:sym typeface="Arial"/>
              </a:rPr>
              <a:t>04</a:t>
            </a:r>
            <a:endParaRPr sz="1800"/>
          </a:p>
        </p:txBody>
      </p:sp>
      <p:sp>
        <p:nvSpPr>
          <p:cNvPr id="307" name="Google Shape;307;p14"/>
          <p:cNvSpPr/>
          <p:nvPr/>
        </p:nvSpPr>
        <p:spPr>
          <a:xfrm>
            <a:off x="1762125" y="4524375"/>
            <a:ext cx="3429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63">
                <a:solidFill>
                  <a:srgbClr val="F3F7FB"/>
                </a:solidFill>
                <a:latin typeface="Arial"/>
                <a:ea typeface="Arial"/>
                <a:cs typeface="Arial"/>
                <a:sym typeface="Arial"/>
              </a:rPr>
              <a:t>Primary forecast model</a:t>
            </a:r>
            <a:endParaRPr sz="1800"/>
          </a:p>
        </p:txBody>
      </p:sp>
      <p:sp>
        <p:nvSpPr>
          <p:cNvPr id="308" name="Google Shape;308;p14"/>
          <p:cNvSpPr/>
          <p:nvPr/>
        </p:nvSpPr>
        <p:spPr>
          <a:xfrm>
            <a:off x="1762125" y="4886325"/>
            <a:ext cx="86073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75">
                <a:solidFill>
                  <a:srgbClr val="AEC4D6"/>
                </a:solidFill>
                <a:latin typeface="Arial"/>
                <a:ea typeface="Arial"/>
                <a:cs typeface="Arial"/>
                <a:sym typeface="Arial"/>
              </a:rPr>
              <a:t>Linear + GFS has the lowest rolling MAE and a supported improvement over raw GFS.</a:t>
            </a:r>
            <a:endParaRPr sz="1800"/>
          </a:p>
        </p:txBody>
      </p:sp>
      <p:cxnSp>
        <p:nvCxnSpPr>
          <p:cNvPr id="309" name="Google Shape;309;p14"/>
          <p:cNvCxnSpPr/>
          <p:nvPr/>
        </p:nvCxnSpPr>
        <p:spPr>
          <a:xfrm>
            <a:off x="1762125" y="5238750"/>
            <a:ext cx="8429700" cy="0"/>
          </a:xfrm>
          <a:prstGeom prst="straightConnector1">
            <a:avLst/>
          </a:prstGeom>
          <a:noFill/>
          <a:ln cap="flat" cmpd="sng" w="9525">
            <a:solidFill>
              <a:srgbClr val="244866"/>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E33"/>
        </a:solidFill>
      </p:bgPr>
    </p:bg>
    <p:spTree>
      <p:nvGrpSpPr>
        <p:cNvPr id="314" name="Shape 314"/>
        <p:cNvGrpSpPr/>
        <p:nvPr/>
      </p:nvGrpSpPr>
      <p:grpSpPr>
        <a:xfrm>
          <a:off x="0" y="0"/>
          <a:ext cx="0" cy="0"/>
          <a:chOff x="0" y="0"/>
          <a:chExt cx="0" cy="0"/>
        </a:xfrm>
      </p:grpSpPr>
      <p:sp>
        <p:nvSpPr>
          <p:cNvPr id="315" name="Google Shape;315;p15"/>
          <p:cNvSpPr/>
          <p:nvPr/>
        </p:nvSpPr>
        <p:spPr>
          <a:xfrm>
            <a:off x="0" y="0"/>
            <a:ext cx="12192000" cy="6858000"/>
          </a:xfrm>
          <a:prstGeom prst="rect">
            <a:avLst/>
          </a:prstGeom>
          <a:solidFill>
            <a:srgbClr val="081E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0" y="0"/>
            <a:ext cx="152400" cy="6858000"/>
          </a:xfrm>
          <a:prstGeom prst="rect">
            <a:avLst/>
          </a:prstGeom>
          <a:solidFill>
            <a:srgbClr val="8EC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838200" y="2324100"/>
            <a:ext cx="60960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775">
                <a:solidFill>
                  <a:srgbClr val="F3F7FB"/>
                </a:solidFill>
                <a:latin typeface="Arial"/>
                <a:ea typeface="Arial"/>
                <a:cs typeface="Arial"/>
                <a:sym typeface="Arial"/>
              </a:rPr>
              <a:t>Questions?</a:t>
            </a:r>
            <a:endParaRPr/>
          </a:p>
        </p:txBody>
      </p:sp>
      <p:sp>
        <p:nvSpPr>
          <p:cNvPr id="318" name="Google Shape;318;p15"/>
          <p:cNvSpPr/>
          <p:nvPr/>
        </p:nvSpPr>
        <p:spPr>
          <a:xfrm>
            <a:off x="876300" y="3286125"/>
            <a:ext cx="43815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19">
                <a:solidFill>
                  <a:srgbClr val="AEC4D6"/>
                </a:solidFill>
                <a:latin typeface="Arial"/>
                <a:ea typeface="Arial"/>
                <a:cs typeface="Arial"/>
                <a:sym typeface="Arial"/>
              </a:rPr>
              <a:t>RDU hourly temperature forecasting</a:t>
            </a:r>
            <a:endParaRPr sz="1500"/>
          </a:p>
          <a:p>
            <a:pPr indent="0" lvl="0" marL="0" marR="0" rtl="0" algn="l">
              <a:spcBef>
                <a:spcPts val="0"/>
              </a:spcBef>
              <a:spcAft>
                <a:spcPts val="0"/>
              </a:spcAft>
              <a:buNone/>
            </a:pPr>
            <a:r>
              <a:rPr b="0" lang="en-US" sz="1519">
                <a:solidFill>
                  <a:srgbClr val="AEC4D6"/>
                </a:solidFill>
                <a:latin typeface="Arial"/>
                <a:ea typeface="Arial"/>
                <a:cs typeface="Arial"/>
                <a:sym typeface="Arial"/>
              </a:rPr>
              <a:t>AIPI 520 · Project 1</a:t>
            </a:r>
            <a:endParaRPr sz="1500"/>
          </a:p>
        </p:txBody>
      </p:sp>
      <p:cxnSp>
        <p:nvCxnSpPr>
          <p:cNvPr id="319" name="Google Shape;319;p15"/>
          <p:cNvCxnSpPr/>
          <p:nvPr/>
        </p:nvCxnSpPr>
        <p:spPr>
          <a:xfrm>
            <a:off x="7810500" y="4105275"/>
            <a:ext cx="666750" cy="790575"/>
          </a:xfrm>
          <a:prstGeom prst="straightConnector1">
            <a:avLst/>
          </a:prstGeom>
          <a:noFill/>
          <a:ln cap="flat" cmpd="sng" w="28575">
            <a:solidFill>
              <a:srgbClr val="8EC5EA"/>
            </a:solidFill>
            <a:prstDash val="solid"/>
            <a:round/>
            <a:headEnd len="sm" w="sm" type="none"/>
            <a:tailEnd len="sm" w="sm" type="none"/>
          </a:ln>
        </p:spPr>
      </p:cxnSp>
      <p:cxnSp>
        <p:nvCxnSpPr>
          <p:cNvPr id="320" name="Google Shape;320;p15"/>
          <p:cNvCxnSpPr/>
          <p:nvPr/>
        </p:nvCxnSpPr>
        <p:spPr>
          <a:xfrm>
            <a:off x="8477250" y="4105275"/>
            <a:ext cx="695325" cy="447675"/>
          </a:xfrm>
          <a:prstGeom prst="straightConnector1">
            <a:avLst/>
          </a:prstGeom>
          <a:noFill/>
          <a:ln cap="flat" cmpd="sng" w="28575">
            <a:solidFill>
              <a:srgbClr val="8EC5EA"/>
            </a:solidFill>
            <a:prstDash val="solid"/>
            <a:round/>
            <a:headEnd len="sm" w="sm" type="none"/>
            <a:tailEnd len="sm" w="sm" type="none"/>
          </a:ln>
        </p:spPr>
      </p:cxnSp>
      <p:cxnSp>
        <p:nvCxnSpPr>
          <p:cNvPr id="321" name="Google Shape;321;p15"/>
          <p:cNvCxnSpPr/>
          <p:nvPr/>
        </p:nvCxnSpPr>
        <p:spPr>
          <a:xfrm>
            <a:off x="9172575" y="3362325"/>
            <a:ext cx="695325" cy="1190625"/>
          </a:xfrm>
          <a:prstGeom prst="straightConnector1">
            <a:avLst/>
          </a:prstGeom>
          <a:noFill/>
          <a:ln cap="flat" cmpd="sng" w="28575">
            <a:solidFill>
              <a:srgbClr val="8EC5EA"/>
            </a:solidFill>
            <a:prstDash val="solid"/>
            <a:round/>
            <a:headEnd len="sm" w="sm" type="none"/>
            <a:tailEnd len="sm" w="sm" type="none"/>
          </a:ln>
        </p:spPr>
      </p:cxnSp>
      <p:cxnSp>
        <p:nvCxnSpPr>
          <p:cNvPr id="322" name="Google Shape;322;p15"/>
          <p:cNvCxnSpPr/>
          <p:nvPr/>
        </p:nvCxnSpPr>
        <p:spPr>
          <a:xfrm>
            <a:off x="9867900" y="3362325"/>
            <a:ext cx="685800" cy="542925"/>
          </a:xfrm>
          <a:prstGeom prst="straightConnector1">
            <a:avLst/>
          </a:prstGeom>
          <a:noFill/>
          <a:ln cap="flat" cmpd="sng" w="28575">
            <a:solidFill>
              <a:srgbClr val="8EC5EA"/>
            </a:solidFill>
            <a:prstDash val="solid"/>
            <a:round/>
            <a:headEnd len="sm" w="sm" type="none"/>
            <a:tailEnd len="sm" w="sm" type="none"/>
          </a:ln>
        </p:spPr>
      </p:cxnSp>
      <p:sp>
        <p:nvSpPr>
          <p:cNvPr id="323" name="Google Shape;323;p15"/>
          <p:cNvSpPr/>
          <p:nvPr/>
        </p:nvSpPr>
        <p:spPr>
          <a:xfrm>
            <a:off x="8420100" y="4038600"/>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9115425" y="4486275"/>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9810750" y="3295650"/>
            <a:ext cx="123825" cy="123825"/>
          </a:xfrm>
          <a:prstGeom prst="ellipse">
            <a:avLst/>
          </a:prstGeom>
          <a:solidFill>
            <a:srgbClr val="F2A2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